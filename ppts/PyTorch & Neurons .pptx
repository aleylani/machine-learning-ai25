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61" r:id="rId3"/>
    <p:sldId id="338" r:id="rId4"/>
    <p:sldId id="339" r:id="rId5"/>
    <p:sldId id="340" r:id="rId6"/>
    <p:sldId id="341" r:id="rId7"/>
    <p:sldId id="342" r:id="rId8"/>
    <p:sldId id="345" r:id="rId9"/>
    <p:sldId id="278" r:id="rId10"/>
    <p:sldId id="343" r:id="rId11"/>
    <p:sldId id="344" r:id="rId12"/>
    <p:sldId id="346" r:id="rId13"/>
    <p:sldId id="347" r:id="rId14"/>
    <p:sldId id="348" r:id="rId15"/>
    <p:sldId id="349" r:id="rId16"/>
    <p:sldId id="351" r:id="rId17"/>
    <p:sldId id="352" r:id="rId18"/>
    <p:sldId id="353" r:id="rId19"/>
    <p:sldId id="354" r:id="rId20"/>
    <p:sldId id="355" r:id="rId21"/>
    <p:sldId id="396" r:id="rId22"/>
    <p:sldId id="356" r:id="rId23"/>
    <p:sldId id="397" r:id="rId24"/>
    <p:sldId id="358" r:id="rId25"/>
    <p:sldId id="359" r:id="rId26"/>
    <p:sldId id="361" r:id="rId27"/>
    <p:sldId id="362" r:id="rId28"/>
    <p:sldId id="363" r:id="rId29"/>
    <p:sldId id="350" r:id="rId30"/>
    <p:sldId id="365" r:id="rId31"/>
    <p:sldId id="366" r:id="rId32"/>
    <p:sldId id="373" r:id="rId33"/>
    <p:sldId id="374" r:id="rId34"/>
    <p:sldId id="375" r:id="rId35"/>
    <p:sldId id="368" r:id="rId36"/>
    <p:sldId id="367" r:id="rId37"/>
    <p:sldId id="369" r:id="rId38"/>
    <p:sldId id="370" r:id="rId39"/>
    <p:sldId id="371" r:id="rId40"/>
    <p:sldId id="372" r:id="rId41"/>
    <p:sldId id="377" r:id="rId42"/>
    <p:sldId id="378" r:id="rId43"/>
    <p:sldId id="376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90" r:id="rId55"/>
    <p:sldId id="389" r:id="rId56"/>
    <p:sldId id="391" r:id="rId57"/>
    <p:sldId id="392" r:id="rId58"/>
    <p:sldId id="393" r:id="rId59"/>
    <p:sldId id="394" r:id="rId60"/>
    <p:sldId id="395" r:id="rId61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DE12CF"/>
    <a:srgbClr val="70AD47"/>
    <a:srgbClr val="56CBF5"/>
    <a:srgbClr val="14B6F1"/>
    <a:srgbClr val="00B050"/>
    <a:srgbClr val="01FF00"/>
    <a:srgbClr val="00B0F0"/>
    <a:srgbClr val="FFFFF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47" autoAdjust="0"/>
    <p:restoredTop sz="92651" autoAdjust="0"/>
  </p:normalViewPr>
  <p:slideViewPr>
    <p:cSldViewPr snapToGrid="0">
      <p:cViewPr varScale="1">
        <p:scale>
          <a:sx n="102" d="100"/>
          <a:sy n="102" d="100"/>
        </p:scale>
        <p:origin x="472" y="1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C5D43-A306-4CE6-B1B5-F25CF3397402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04AD3-490E-4939-837B-4B95D2BEF97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4187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2002-5462-3DE1-3130-7CCA0891B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07852-2628-5DFE-BBEE-F14784403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2AF6F-A260-F5D1-8F1F-0EC6136A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8A2D-F5DC-8819-E9BE-5FDCA4D9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09FB5-BFA4-A5D6-C443-FE32003F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3826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5ECD-42DE-1CF7-0FB5-7F7EA79C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3D9C-0372-C353-635B-ACEE833F1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F8A99-D62B-05A7-4193-2DFE9365A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41170-E4CE-C216-58AF-4977176D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A20C-9F41-7ACC-B2E4-4633E1F9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2400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circle with black text&#10;&#10;Description automatically generated">
            <a:extLst>
              <a:ext uri="{FF2B5EF4-FFF2-40B4-BE49-F238E27FC236}">
                <a16:creationId xmlns:a16="http://schemas.microsoft.com/office/drawing/2014/main" id="{CDE0FB2D-CE89-1001-5CCD-73F350DBD9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54" y="5643880"/>
            <a:ext cx="1046446" cy="104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1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4B05-CCC2-F484-900D-889C6FF5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A85B-8111-326A-867A-310C41CEF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13EB-4748-9971-B8F8-461AD327A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45335-F199-2B86-3215-64526610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73B3A-FAD5-24EF-2D9F-1E020E3E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8E92E-AB7A-8106-790F-2A34AEE3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4858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97A4-0D03-EAC2-B9A9-375F9660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B652D-4A89-6CAC-137F-055D5DE13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33D27-752D-C242-9E9A-BB866617C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622E9-7F33-E644-681C-F15B6C833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7B3FC-9D14-C681-D425-D905D8616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10F6C-00D6-ADDC-0049-D29D97D4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AB3DA-9380-6BB3-575C-D98BBF64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4769F-ECB0-9136-73B6-357AA588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0221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4108-788C-8983-8F1B-55B8D5F0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0E5C6-3E02-CF38-8701-FA6DFB26F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0AC55-4FBC-A429-1A38-30AA6A5D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5503D-249E-9809-E609-5BED9B92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2855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B5744-6909-EB9C-37C8-8D4969BD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CB0FA-A53F-CCE6-8833-286880ED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A4B0A-63D2-5E4A-7846-D7A391C7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7966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DB75-03D0-A76C-F5D3-D55C79ED5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DD17-B843-4124-A70B-8F4D7F7D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96CFC-D3BD-D78A-1F10-3F883D953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AFE8D-829C-6853-82A3-2E5E940B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AB1D6-30C0-A666-D81A-1982AFDD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C42CC-4792-5BF4-2376-C41C7810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9013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6E54-AF28-0B34-733F-B77CFF21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9C056E-559A-4D92-4F1B-B05262D7E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AA72-2DBD-F571-7CE6-810285559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6598E-98A0-37F6-4A1A-3150E4D1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E98D9-1732-12E7-17E7-D7D39918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60E23-9F21-B91F-BFB2-65167183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3118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1B949-8AED-4D2B-3ACA-2D4F7260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3CA8A-3AA8-B946-B7FB-EFAB28A15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417-A9F2-5DBA-4500-070190BA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EAD30-98BC-3C71-6254-C683CA40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C58CA-80B6-EDEA-3E9F-6B1EAA3D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5277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AADEB-F7E7-649C-F40C-6D0A4BE9F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79BB5-81A8-0977-D257-64823EE65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327D9-7A6A-1C18-3F5D-C7B36587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5532-66C0-AB92-B632-A0BD9A77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302CE-103E-6449-FE60-D929BD2E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2516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4ADDF5-A2E7-0D5B-394D-F03FE73A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3BF75-040F-2923-BE9B-85E782EC6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C15CE-3EB3-A4F0-731C-9470AC5DC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A156A-4A9D-4608-9AD9-1A389DFFAF9E}" type="datetimeFigureOut">
              <a:rPr lang="en-SE" smtClean="0"/>
              <a:t>2026-04-16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11A76-03E0-423C-94EB-FB2E8B3C6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560D2-75D8-30A2-270A-1DE2CDB26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0A16D-1401-40E7-9D8E-7EFD1FE426B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946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320/student+performance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90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squares&#10;&#10;Description automatically generated">
            <a:extLst>
              <a:ext uri="{FF2B5EF4-FFF2-40B4-BE49-F238E27FC236}">
                <a16:creationId xmlns:a16="http://schemas.microsoft.com/office/drawing/2014/main" id="{56123A4B-0C92-2444-60B5-31B615C47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0B3D2BDF-4D35-3386-33B4-148E5E8F8B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247526" y="3940586"/>
            <a:ext cx="3696947" cy="661550"/>
          </a:xfrm>
        </p:spPr>
        <p:txBody>
          <a:bodyPr>
            <a:normAutofit fontScale="90000"/>
          </a:bodyPr>
          <a:lstStyle/>
          <a:p>
            <a:r>
              <a:rPr lang="en-GB" altLang="en-SE" sz="32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PyTorch</a:t>
            </a:r>
            <a:r>
              <a:rPr lang="en-GB" altLang="en-SE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 &amp; Neurons</a:t>
            </a:r>
            <a:endParaRPr lang="en-US" altLang="en-SE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a red circle and black text&#10;&#10;Description automatically generated">
            <a:extLst>
              <a:ext uri="{FF2B5EF4-FFF2-40B4-BE49-F238E27FC236}">
                <a16:creationId xmlns:a16="http://schemas.microsoft.com/office/drawing/2014/main" id="{3E9B2E22-4CDE-2652-7BAC-F42024A924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/>
        </p:blipFill>
        <p:spPr>
          <a:xfrm>
            <a:off x="5890064" y="468577"/>
            <a:ext cx="3559672" cy="3450683"/>
          </a:xfrm>
          <a:prstGeom prst="rect">
            <a:avLst/>
          </a:prstGeom>
        </p:spPr>
      </p:pic>
      <p:sp>
        <p:nvSpPr>
          <p:cNvPr id="9" name="Rectangle 12">
            <a:extLst>
              <a:ext uri="{FF2B5EF4-FFF2-40B4-BE49-F238E27FC236}">
                <a16:creationId xmlns:a16="http://schemas.microsoft.com/office/drawing/2014/main" id="{C63B7BC5-9446-406F-2952-B952ADA464AD}"/>
              </a:ext>
            </a:extLst>
          </p:cNvPr>
          <p:cNvSpPr txBox="1">
            <a:spLocks noChangeArrowheads="1"/>
          </p:cNvSpPr>
          <p:nvPr/>
        </p:nvSpPr>
        <p:spPr>
          <a:xfrm>
            <a:off x="1637897" y="137802"/>
            <a:ext cx="2126029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 err="1">
                <a:latin typeface="Century Gothic" panose="020B0502020202020204" pitchFamily="34" charset="0"/>
              </a:rPr>
              <a:t>Överblick</a:t>
            </a:r>
            <a:r>
              <a:rPr lang="en-GB" altLang="en-SE" sz="1800" dirty="0">
                <a:latin typeface="Century Gothic" panose="020B0502020202020204" pitchFamily="34" charset="0"/>
              </a:rPr>
              <a:t>		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92C6C-D7E4-E6E4-7692-199E574DD4F1}"/>
              </a:ext>
            </a:extLst>
          </p:cNvPr>
          <p:cNvSpPr txBox="1"/>
          <p:nvPr/>
        </p:nvSpPr>
        <p:spPr>
          <a:xfrm>
            <a:off x="200466" y="2430959"/>
            <a:ext cx="5289749" cy="239450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GB" sz="1600" b="1" dirty="0" err="1">
                <a:latin typeface="Century Gothic" panose="020B0502020202020204" pitchFamily="34" charset="0"/>
              </a:rPr>
              <a:t>Idag</a:t>
            </a:r>
            <a:r>
              <a:rPr lang="en-GB" sz="1600" b="1" dirty="0">
                <a:latin typeface="Century Gothic" panose="020B0502020202020204" pitchFamily="34" charset="0"/>
              </a:rPr>
              <a:t> ska vi </a:t>
            </a:r>
            <a:r>
              <a:rPr lang="en-GB" sz="1600" b="1" dirty="0" err="1">
                <a:latin typeface="Century Gothic" panose="020B0502020202020204" pitchFamily="34" charset="0"/>
              </a:rPr>
              <a:t>börja</a:t>
            </a:r>
            <a:r>
              <a:rPr lang="en-GB" sz="1600" b="1" dirty="0">
                <a:latin typeface="Century Gothic" panose="020B0502020202020204" pitchFamily="34" charset="0"/>
              </a:rPr>
              <a:t> </a:t>
            </a:r>
            <a:r>
              <a:rPr lang="en-GB" sz="1600" b="1" dirty="0" err="1">
                <a:latin typeface="Century Gothic" panose="020B0502020202020204" pitchFamily="34" charset="0"/>
              </a:rPr>
              <a:t>arbeta</a:t>
            </a:r>
            <a:r>
              <a:rPr lang="en-GB" sz="1600" b="1" dirty="0">
                <a:latin typeface="Century Gothic" panose="020B0502020202020204" pitchFamily="34" charset="0"/>
              </a:rPr>
              <a:t> med </a:t>
            </a:r>
            <a:r>
              <a:rPr lang="en-GB" sz="1600" b="1" dirty="0" err="1">
                <a:latin typeface="Century Gothic" panose="020B0502020202020204" pitchFamily="34" charset="0"/>
              </a:rPr>
              <a:t>PyTorch</a:t>
            </a:r>
            <a:r>
              <a:rPr lang="en-GB" sz="1600" b="1" dirty="0">
                <a:latin typeface="Century Gothic" panose="020B0502020202020204" pitchFamily="34" charset="0"/>
              </a:rPr>
              <a:t>!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sz="1600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sz="1600" dirty="0" err="1">
                <a:latin typeface="Century Gothic" panose="020B0502020202020204" pitchFamily="34" charset="0"/>
              </a:rPr>
              <a:t>Målet</a:t>
            </a:r>
            <a:r>
              <a:rPr lang="en-GB" sz="1600" dirty="0">
                <a:latin typeface="Century Gothic" panose="020B0502020202020204" pitchFamily="34" charset="0"/>
              </a:rPr>
              <a:t> med </a:t>
            </a:r>
            <a:r>
              <a:rPr lang="en-GB" sz="1600" dirty="0" err="1">
                <a:latin typeface="Century Gothic" panose="020B0502020202020204" pitchFamily="34" charset="0"/>
              </a:rPr>
              <a:t>dagens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teori</a:t>
            </a:r>
            <a:r>
              <a:rPr lang="en-GB" sz="1600" dirty="0">
                <a:latin typeface="Century Gothic" panose="020B0502020202020204" pitchFamily="34" charset="0"/>
              </a:rPr>
              <a:t>, och </a:t>
            </a:r>
            <a:r>
              <a:rPr lang="en-GB" sz="1600" dirty="0" err="1">
                <a:latin typeface="Century Gothic" panose="020B0502020202020204" pitchFamily="34" charset="0"/>
              </a:rPr>
              <a:t>efterföljande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uppgifter</a:t>
            </a:r>
            <a:r>
              <a:rPr lang="en-GB" sz="1600" dirty="0">
                <a:latin typeface="Century Gothic" panose="020B0502020202020204" pitchFamily="34" charset="0"/>
              </a:rPr>
              <a:t>, är </a:t>
            </a:r>
            <a:r>
              <a:rPr lang="en-GB" sz="1600" dirty="0" err="1">
                <a:latin typeface="Century Gothic" panose="020B0502020202020204" pitchFamily="34" charset="0"/>
              </a:rPr>
              <a:t>att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ni</a:t>
            </a:r>
            <a:r>
              <a:rPr lang="en-GB" sz="1600" dirty="0">
                <a:latin typeface="Century Gothic" panose="020B0502020202020204" pitchFamily="34" charset="0"/>
              </a:rPr>
              <a:t> ska </a:t>
            </a:r>
            <a:r>
              <a:rPr lang="en-GB" sz="1600" dirty="0" err="1">
                <a:latin typeface="Century Gothic" panose="020B0502020202020204" pitchFamily="34" charset="0"/>
              </a:rPr>
              <a:t>få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förståelse</a:t>
            </a:r>
            <a:r>
              <a:rPr lang="en-GB" sz="1600" dirty="0">
                <a:latin typeface="Century Gothic" panose="020B0502020202020204" pitchFamily="34" charset="0"/>
              </a:rPr>
              <a:t> för </a:t>
            </a:r>
            <a:r>
              <a:rPr lang="en-GB" sz="1600" dirty="0" err="1">
                <a:latin typeface="Century Gothic" panose="020B0502020202020204" pitchFamily="34" charset="0"/>
              </a:rPr>
              <a:t>vad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PyTorch</a:t>
            </a:r>
            <a:r>
              <a:rPr lang="en-GB" sz="1600" dirty="0">
                <a:latin typeface="Century Gothic" panose="020B0502020202020204" pitchFamily="34" charset="0"/>
              </a:rPr>
              <a:t> är och </a:t>
            </a:r>
            <a:r>
              <a:rPr lang="en-GB" sz="1600" dirty="0" err="1">
                <a:latin typeface="Century Gothic" panose="020B0502020202020204" pitchFamily="34" charset="0"/>
              </a:rPr>
              <a:t>även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grundläggande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praktisk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förmåga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att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skapa</a:t>
            </a:r>
            <a:r>
              <a:rPr lang="en-GB" sz="1600" dirty="0">
                <a:latin typeface="Century Gothic" panose="020B0502020202020204" pitchFamily="34" charset="0"/>
              </a:rPr>
              <a:t> och </a:t>
            </a:r>
            <a:r>
              <a:rPr lang="en-GB" sz="1600" dirty="0" err="1">
                <a:latin typeface="Century Gothic" panose="020B0502020202020204" pitchFamily="34" charset="0"/>
              </a:rPr>
              <a:t>tränar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enkla</a:t>
            </a:r>
            <a:r>
              <a:rPr lang="en-GB" sz="1600" dirty="0">
                <a:latin typeface="Century Gothic" panose="020B0502020202020204" pitchFamily="34" charset="0"/>
              </a:rPr>
              <a:t> ML-modeller med det.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sz="1600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sz="1600" dirty="0" err="1">
                <a:latin typeface="Century Gothic" panose="020B0502020202020204" pitchFamily="34" charset="0"/>
              </a:rPr>
              <a:t>Specifikt</a:t>
            </a:r>
            <a:r>
              <a:rPr lang="en-GB" sz="1600" dirty="0">
                <a:latin typeface="Century Gothic" panose="020B0502020202020204" pitchFamily="34" charset="0"/>
              </a:rPr>
              <a:t> ska vi </a:t>
            </a:r>
            <a:r>
              <a:rPr lang="en-GB" sz="1600" dirty="0" err="1">
                <a:latin typeface="Century Gothic" panose="020B0502020202020204" pitchFamily="34" charset="0"/>
              </a:rPr>
              <a:t>lära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oss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bygga</a:t>
            </a:r>
            <a:r>
              <a:rPr lang="en-GB" sz="1600" dirty="0">
                <a:latin typeface="Century Gothic" panose="020B0502020202020204" pitchFamily="34" charset="0"/>
              </a:rPr>
              <a:t> de </a:t>
            </a:r>
            <a:r>
              <a:rPr lang="en-GB" sz="1600" dirty="0" err="1">
                <a:latin typeface="Century Gothic" panose="020B0502020202020204" pitchFamily="34" charset="0"/>
              </a:rPr>
              <a:t>Neuroner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som</a:t>
            </a:r>
            <a:r>
              <a:rPr lang="en-GB" sz="1600" dirty="0">
                <a:latin typeface="Century Gothic" panose="020B0502020202020204" pitchFamily="34" charset="0"/>
              </a:rPr>
              <a:t> vi </a:t>
            </a:r>
            <a:r>
              <a:rPr lang="en-GB" sz="1600" dirty="0" err="1">
                <a:latin typeface="Century Gothic" panose="020B0502020202020204" pitchFamily="34" charset="0"/>
              </a:rPr>
              <a:t>pratat</a:t>
            </a:r>
            <a:r>
              <a:rPr lang="en-GB" sz="1600" dirty="0">
                <a:latin typeface="Century Gothic" panose="020B0502020202020204" pitchFamily="34" charset="0"/>
              </a:rPr>
              <a:t> om </a:t>
            </a:r>
            <a:r>
              <a:rPr lang="en-GB" sz="1600" dirty="0" err="1">
                <a:latin typeface="Century Gothic" panose="020B0502020202020204" pitchFamily="34" charset="0"/>
              </a:rPr>
              <a:t>tidigare</a:t>
            </a:r>
            <a:r>
              <a:rPr lang="en-GB" sz="1600" dirty="0"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80F3B5-F04F-E2E7-4A83-0CAE3DB1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325" y="3099506"/>
            <a:ext cx="3679277" cy="26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9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red circle and black text&#10;&#10;Description automatically generated">
            <a:extLst>
              <a:ext uri="{FF2B5EF4-FFF2-40B4-BE49-F238E27FC236}">
                <a16:creationId xmlns:a16="http://schemas.microsoft.com/office/drawing/2014/main" id="{F5FDABCF-9618-645B-34C3-5D60FC618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91" r="4" b="37031"/>
          <a:stretch/>
        </p:blipFill>
        <p:spPr>
          <a:xfrm>
            <a:off x="22101" y="99237"/>
            <a:ext cx="3559672" cy="992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71EE2-78E2-E909-5B73-974630C3AAFB}"/>
              </a:ext>
            </a:extLst>
          </p:cNvPr>
          <p:cNvSpPr txBox="1"/>
          <p:nvPr/>
        </p:nvSpPr>
        <p:spPr>
          <a:xfrm>
            <a:off x="465521" y="1656207"/>
            <a:ext cx="6232503" cy="3954929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GB" b="1" dirty="0">
                <a:latin typeface="Century Gothic" panose="020B0502020202020204" pitchFamily="34" charset="0"/>
              </a:rPr>
              <a:t>Vad är det!?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sz="1600" b="1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sz="1600" dirty="0" err="1">
                <a:latin typeface="Century Gothic" panose="020B0502020202020204" pitchFamily="34" charset="0"/>
              </a:rPr>
              <a:t>PyTorch</a:t>
            </a:r>
            <a:r>
              <a:rPr lang="en-GB" sz="1600" dirty="0">
                <a:latin typeface="Century Gothic" panose="020B0502020202020204" pitchFamily="34" charset="0"/>
              </a:rPr>
              <a:t> är </a:t>
            </a:r>
            <a:r>
              <a:rPr lang="en-GB" sz="1600" dirty="0" err="1">
                <a:latin typeface="Century Gothic" panose="020B0502020202020204" pitchFamily="34" charset="0"/>
              </a:rPr>
              <a:t>ett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optimerat</a:t>
            </a:r>
            <a:r>
              <a:rPr lang="en-GB" sz="1600" dirty="0">
                <a:latin typeface="Century Gothic" panose="020B0502020202020204" pitchFamily="34" charset="0"/>
              </a:rPr>
              <a:t> Python-</a:t>
            </a:r>
            <a:r>
              <a:rPr lang="en-GB" sz="1600" dirty="0" err="1">
                <a:latin typeface="Century Gothic" panose="020B0502020202020204" pitchFamily="34" charset="0"/>
              </a:rPr>
              <a:t>bibliotek</a:t>
            </a:r>
            <a:r>
              <a:rPr lang="en-GB" sz="1600" dirty="0">
                <a:latin typeface="Century Gothic" panose="020B0502020202020204" pitchFamily="34" charset="0"/>
              </a:rPr>
              <a:t> för </a:t>
            </a:r>
            <a:r>
              <a:rPr lang="en-GB" sz="1600" dirty="0" err="1">
                <a:latin typeface="Century Gothic" panose="020B0502020202020204" pitchFamily="34" charset="0"/>
              </a:rPr>
              <a:t>allt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inom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avancerad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maskininlärning</a:t>
            </a:r>
            <a:r>
              <a:rPr lang="en-GB" sz="1600" dirty="0">
                <a:latin typeface="Century Gothic" panose="020B0502020202020204" pitchFamily="34" charset="0"/>
              </a:rPr>
              <a:t>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br>
              <a:rPr lang="en-GB" sz="1600" dirty="0">
                <a:latin typeface="Century Gothic" panose="020B0502020202020204" pitchFamily="34" charset="0"/>
              </a:rPr>
            </a:br>
            <a:r>
              <a:rPr lang="en-GB" sz="1600" dirty="0">
                <a:latin typeface="Century Gothic" panose="020B0502020202020204" pitchFamily="34" charset="0"/>
              </a:rPr>
              <a:t>Från </a:t>
            </a:r>
            <a:r>
              <a:rPr lang="en-GB" sz="1600" dirty="0" err="1">
                <a:latin typeface="Century Gothic" panose="020B0502020202020204" pitchFamily="34" charset="0"/>
              </a:rPr>
              <a:t>skapandet</a:t>
            </a:r>
            <a:r>
              <a:rPr lang="en-GB" sz="1600" dirty="0">
                <a:latin typeface="Century Gothic" panose="020B0502020202020204" pitchFamily="34" charset="0"/>
              </a:rPr>
              <a:t> och </a:t>
            </a:r>
            <a:r>
              <a:rPr lang="en-GB" sz="1600" dirty="0" err="1">
                <a:latin typeface="Century Gothic" panose="020B0502020202020204" pitchFamily="34" charset="0"/>
              </a:rPr>
              <a:t>träning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av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enkla</a:t>
            </a:r>
            <a:r>
              <a:rPr lang="en-GB" sz="1600" dirty="0">
                <a:latin typeface="Century Gothic" panose="020B0502020202020204" pitchFamily="34" charset="0"/>
              </a:rPr>
              <a:t> till </a:t>
            </a:r>
            <a:r>
              <a:rPr lang="en-GB" sz="1600" dirty="0" err="1">
                <a:latin typeface="Century Gothic" panose="020B0502020202020204" pitchFamily="34" charset="0"/>
              </a:rPr>
              <a:t>komplicerade</a:t>
            </a:r>
            <a:r>
              <a:rPr lang="en-GB" sz="1600" dirty="0">
                <a:latin typeface="Century Gothic" panose="020B0502020202020204" pitchFamily="34" charset="0"/>
              </a:rPr>
              <a:t> ML-modeller, </a:t>
            </a:r>
            <a:r>
              <a:rPr lang="en-GB" sz="1600" dirty="0" err="1">
                <a:latin typeface="Century Gothic" panose="020B0502020202020204" pitchFamily="34" charset="0"/>
              </a:rPr>
              <a:t>hela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vägen</a:t>
            </a:r>
            <a:r>
              <a:rPr lang="en-GB" sz="1600" dirty="0">
                <a:latin typeface="Century Gothic" panose="020B0502020202020204" pitchFamily="34" charset="0"/>
              </a:rPr>
              <a:t> till </a:t>
            </a:r>
            <a:r>
              <a:rPr lang="en-GB" sz="1600" dirty="0" err="1">
                <a:latin typeface="Century Gothic" panose="020B0502020202020204" pitchFamily="34" charset="0"/>
              </a:rPr>
              <a:t>produktionssättning</a:t>
            </a:r>
            <a:r>
              <a:rPr lang="en-GB" sz="1600" dirty="0">
                <a:latin typeface="Century Gothic" panose="020B0502020202020204" pitchFamily="34" charset="0"/>
              </a:rPr>
              <a:t>. Det är </a:t>
            </a:r>
            <a:r>
              <a:rPr lang="en-GB" sz="1600" dirty="0" err="1">
                <a:latin typeface="Century Gothic" panose="020B0502020202020204" pitchFamily="34" charset="0"/>
              </a:rPr>
              <a:t>byggd</a:t>
            </a:r>
            <a:r>
              <a:rPr lang="en-GB" sz="1600" dirty="0">
                <a:latin typeface="Century Gothic" panose="020B0502020202020204" pitchFamily="34" charset="0"/>
              </a:rPr>
              <a:t> för </a:t>
            </a:r>
            <a:r>
              <a:rPr lang="en-GB" sz="1600" dirty="0" err="1">
                <a:latin typeface="Century Gothic" panose="020B0502020202020204" pitchFamily="34" charset="0"/>
              </a:rPr>
              <a:t>att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vara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enkelt</a:t>
            </a:r>
            <a:r>
              <a:rPr lang="en-GB" sz="1600" dirty="0">
                <a:latin typeface="Century Gothic" panose="020B0502020202020204" pitchFamily="34" charset="0"/>
              </a:rPr>
              <a:t>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sz="1600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sz="1600" dirty="0" err="1">
                <a:latin typeface="Century Gothic" panose="020B0502020202020204" pitchFamily="34" charset="0"/>
              </a:rPr>
              <a:t>Träning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av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avancerade</a:t>
            </a:r>
            <a:r>
              <a:rPr lang="en-GB" sz="1600" dirty="0">
                <a:latin typeface="Century Gothic" panose="020B0502020202020204" pitchFamily="34" charset="0"/>
              </a:rPr>
              <a:t> ML-modeller (</a:t>
            </a:r>
            <a:r>
              <a:rPr lang="en-GB" sz="1600" dirty="0" err="1">
                <a:latin typeface="Century Gothic" panose="020B0502020202020204" pitchFamily="34" charset="0"/>
              </a:rPr>
              <a:t>tänk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Neurala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Nätverk</a:t>
            </a:r>
            <a:r>
              <a:rPr lang="en-GB" sz="1600" dirty="0">
                <a:latin typeface="Century Gothic" panose="020B0502020202020204" pitchFamily="34" charset="0"/>
              </a:rPr>
              <a:t>) </a:t>
            </a:r>
            <a:r>
              <a:rPr lang="en-GB" sz="1600" dirty="0" err="1">
                <a:latin typeface="Century Gothic" panose="020B0502020202020204" pitchFamily="34" charset="0"/>
              </a:rPr>
              <a:t>går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extremt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mycket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snabbare</a:t>
            </a:r>
            <a:r>
              <a:rPr lang="en-GB" sz="1600" dirty="0">
                <a:latin typeface="Century Gothic" panose="020B0502020202020204" pitchFamily="34" charset="0"/>
              </a:rPr>
              <a:t> med </a:t>
            </a:r>
            <a:r>
              <a:rPr lang="en-GB" sz="1600" dirty="0" err="1">
                <a:latin typeface="Century Gothic" panose="020B0502020202020204" pitchFamily="34" charset="0"/>
              </a:rPr>
              <a:t>hjälp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av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GPU:er</a:t>
            </a:r>
            <a:r>
              <a:rPr lang="en-GB" sz="1600" dirty="0">
                <a:latin typeface="Century Gothic" panose="020B0502020202020204" pitchFamily="34" charset="0"/>
              </a:rPr>
              <a:t>, och </a:t>
            </a:r>
            <a:r>
              <a:rPr lang="en-GB" sz="1600" dirty="0" err="1">
                <a:latin typeface="Century Gothic" panose="020B0502020202020204" pitchFamily="34" charset="0"/>
              </a:rPr>
              <a:t>PyTorch</a:t>
            </a:r>
            <a:r>
              <a:rPr lang="en-GB" sz="1600" dirty="0">
                <a:latin typeface="Century Gothic" panose="020B0502020202020204" pitchFamily="34" charset="0"/>
              </a:rPr>
              <a:t> är </a:t>
            </a:r>
            <a:r>
              <a:rPr lang="en-GB" sz="1600" dirty="0" err="1">
                <a:latin typeface="Century Gothic" panose="020B0502020202020204" pitchFamily="34" charset="0"/>
              </a:rPr>
              <a:t>byggd</a:t>
            </a:r>
            <a:r>
              <a:rPr lang="en-GB" sz="1600" dirty="0">
                <a:latin typeface="Century Gothic" panose="020B0502020202020204" pitchFamily="34" charset="0"/>
              </a:rPr>
              <a:t> med </a:t>
            </a:r>
            <a:r>
              <a:rPr lang="en-GB" sz="1600" dirty="0" err="1">
                <a:latin typeface="Century Gothic" panose="020B0502020202020204" pitchFamily="34" charset="0"/>
              </a:rPr>
              <a:t>kraftig</a:t>
            </a:r>
            <a:r>
              <a:rPr lang="en-GB" sz="1600" dirty="0">
                <a:latin typeface="Century Gothic" panose="020B0502020202020204" pitchFamily="34" charset="0"/>
              </a:rPr>
              <a:t> support för just </a:t>
            </a:r>
            <a:r>
              <a:rPr lang="en-GB" sz="1600" dirty="0" err="1">
                <a:latin typeface="Century Gothic" panose="020B0502020202020204" pitchFamily="34" charset="0"/>
              </a:rPr>
              <a:t>detta</a:t>
            </a:r>
            <a:r>
              <a:rPr lang="en-GB" sz="1600" dirty="0">
                <a:latin typeface="Century Gothic" panose="020B0502020202020204" pitchFamily="34" charset="0"/>
              </a:rPr>
              <a:t>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sz="1600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sz="1600" dirty="0">
                <a:latin typeface="Century Gothic" panose="020B0502020202020204" pitchFamily="34" charset="0"/>
              </a:rPr>
              <a:t>All </a:t>
            </a:r>
            <a:r>
              <a:rPr lang="en-GB" sz="1600" dirty="0" err="1">
                <a:latin typeface="Century Gothic" panose="020B0502020202020204" pitchFamily="34" charset="0"/>
              </a:rPr>
              <a:t>kommunikation</a:t>
            </a:r>
            <a:r>
              <a:rPr lang="en-GB" sz="1600" dirty="0">
                <a:latin typeface="Century Gothic" panose="020B0502020202020204" pitchFamily="34" charset="0"/>
              </a:rPr>
              <a:t> med GPU </a:t>
            </a:r>
            <a:r>
              <a:rPr lang="en-GB" sz="1600" dirty="0" err="1">
                <a:latin typeface="Century Gothic" panose="020B0502020202020204" pitchFamily="34" charset="0"/>
              </a:rPr>
              <a:t>sker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i</a:t>
            </a:r>
            <a:r>
              <a:rPr lang="en-GB" sz="1600" dirty="0">
                <a:latin typeface="Century Gothic" panose="020B0502020202020204" pitchFamily="34" charset="0"/>
              </a:rPr>
              <a:t> </a:t>
            </a:r>
            <a:r>
              <a:rPr lang="en-GB" sz="1600" dirty="0" err="1">
                <a:latin typeface="Century Gothic" panose="020B0502020202020204" pitchFamily="34" charset="0"/>
              </a:rPr>
              <a:t>bakgrunden</a:t>
            </a:r>
            <a:r>
              <a:rPr lang="en-GB" sz="1600" dirty="0">
                <a:latin typeface="Century Gothic" panose="020B0502020202020204" pitchFamily="34" charset="0"/>
              </a:rPr>
              <a:t>, vi </a:t>
            </a:r>
            <a:r>
              <a:rPr lang="en-GB" sz="1600" dirty="0" err="1">
                <a:latin typeface="Century Gothic" panose="020B0502020202020204" pitchFamily="34" charset="0"/>
              </a:rPr>
              <a:t>behöver</a:t>
            </a:r>
            <a:r>
              <a:rPr lang="en-GB" sz="1600" dirty="0">
                <a:latin typeface="Century Gothic" panose="020B0502020202020204" pitchFamily="34" charset="0"/>
              </a:rPr>
              <a:t> inte </a:t>
            </a:r>
            <a:r>
              <a:rPr lang="en-GB" sz="1600" dirty="0" err="1">
                <a:latin typeface="Century Gothic" panose="020B0502020202020204" pitchFamily="34" charset="0"/>
              </a:rPr>
              <a:t>tänka</a:t>
            </a:r>
            <a:r>
              <a:rPr lang="en-GB" sz="1600" dirty="0">
                <a:latin typeface="Century Gothic" panose="020B0502020202020204" pitchFamily="34" charset="0"/>
              </a:rPr>
              <a:t> på det. </a:t>
            </a:r>
          </a:p>
        </p:txBody>
      </p:sp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9ACB4D90-1722-8B3E-7EB6-E0C4972A2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024" y="1246864"/>
            <a:ext cx="5296541" cy="184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red circle and black text&#10;&#10;Description automatically generated">
            <a:extLst>
              <a:ext uri="{FF2B5EF4-FFF2-40B4-BE49-F238E27FC236}">
                <a16:creationId xmlns:a16="http://schemas.microsoft.com/office/drawing/2014/main" id="{F5FDABCF-9618-645B-34C3-5D60FC618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91" r="4" b="37031"/>
          <a:stretch/>
        </p:blipFill>
        <p:spPr>
          <a:xfrm>
            <a:off x="22101" y="99237"/>
            <a:ext cx="3559672" cy="992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71EE2-78E2-E909-5B73-974630C3AAFB}"/>
              </a:ext>
            </a:extLst>
          </p:cNvPr>
          <p:cNvSpPr txBox="1"/>
          <p:nvPr/>
        </p:nvSpPr>
        <p:spPr>
          <a:xfrm>
            <a:off x="168295" y="1656207"/>
            <a:ext cx="7097285" cy="3046988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GB" b="1" dirty="0" err="1">
                <a:latin typeface="Century Gothic" panose="020B0502020202020204" pitchFamily="34" charset="0"/>
              </a:rPr>
              <a:t>Framförallt</a:t>
            </a:r>
            <a:r>
              <a:rPr lang="en-GB" b="1" dirty="0">
                <a:latin typeface="Century Gothic" panose="020B0502020202020204" pitchFamily="34" charset="0"/>
              </a:rPr>
              <a:t>…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b="1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dirty="0">
                <a:latin typeface="Century Gothic" panose="020B0502020202020204" pitchFamily="34" charset="0"/>
              </a:rPr>
              <a:t>…så </a:t>
            </a:r>
            <a:r>
              <a:rPr lang="en-GB" dirty="0" err="1">
                <a:latin typeface="Century Gothic" panose="020B0502020202020204" pitchFamily="34" charset="0"/>
              </a:rPr>
              <a:t>abstraherar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PyTorch</a:t>
            </a:r>
            <a:r>
              <a:rPr lang="en-GB" dirty="0">
                <a:latin typeface="Century Gothic" panose="020B0502020202020204" pitchFamily="34" charset="0"/>
              </a:rPr>
              <a:t> bort all </a:t>
            </a:r>
            <a:r>
              <a:rPr lang="en-GB" dirty="0" err="1">
                <a:latin typeface="Century Gothic" panose="020B0502020202020204" pitchFamily="34" charset="0"/>
              </a:rPr>
              <a:t>matematik</a:t>
            </a:r>
            <a:r>
              <a:rPr lang="en-GB" dirty="0">
                <a:latin typeface="Century Gothic" panose="020B0502020202020204" pitchFamily="34" charset="0"/>
              </a:rPr>
              <a:t> och </a:t>
            </a:r>
            <a:r>
              <a:rPr lang="en-GB" dirty="0" err="1">
                <a:latin typeface="Century Gothic" panose="020B0502020202020204" pitchFamily="34" charset="0"/>
              </a:rPr>
              <a:t>sköter</a:t>
            </a:r>
            <a:r>
              <a:rPr lang="en-GB" dirty="0">
                <a:latin typeface="Century Gothic" panose="020B0502020202020204" pitchFamily="34" charset="0"/>
              </a:rPr>
              <a:t> det </a:t>
            </a:r>
            <a:r>
              <a:rPr lang="en-GB" dirty="0" err="1">
                <a:latin typeface="Century Gothic" panose="020B0502020202020204" pitchFamily="34" charset="0"/>
              </a:rPr>
              <a:t>i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bakgrunden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åt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oss</a:t>
            </a:r>
            <a:r>
              <a:rPr lang="en-GB" dirty="0">
                <a:latin typeface="Century Gothic" panose="020B0502020202020204" pitchFamily="34" charset="0"/>
              </a:rPr>
              <a:t>! </a:t>
            </a:r>
            <a:r>
              <a:rPr lang="en-GB" dirty="0" err="1">
                <a:latin typeface="Century Gothic" panose="020B0502020202020204" pitchFamily="34" charset="0"/>
              </a:rPr>
              <a:t>Specifikt</a:t>
            </a:r>
            <a:r>
              <a:rPr lang="en-GB" dirty="0">
                <a:latin typeface="Century Gothic" panose="020B0502020202020204" pitchFamily="34" charset="0"/>
              </a:rPr>
              <a:t> kommer den </a:t>
            </a:r>
            <a:r>
              <a:rPr lang="en-GB" dirty="0" err="1">
                <a:latin typeface="Century Gothic" panose="020B0502020202020204" pitchFamily="34" charset="0"/>
              </a:rPr>
              <a:t>att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sköta</a:t>
            </a:r>
            <a:r>
              <a:rPr lang="en-GB" dirty="0">
                <a:latin typeface="Century Gothic" panose="020B0502020202020204" pitchFamily="34" charset="0"/>
              </a:rPr>
              <a:t> Gradient Descent och </a:t>
            </a:r>
            <a:r>
              <a:rPr lang="en-GB" dirty="0" err="1">
                <a:latin typeface="Century Gothic" panose="020B0502020202020204" pitchFamily="34" charset="0"/>
              </a:rPr>
              <a:t>själva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träningen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av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våra</a:t>
            </a:r>
            <a:r>
              <a:rPr lang="en-GB" dirty="0">
                <a:latin typeface="Century Gothic" panose="020B0502020202020204" pitchFamily="34" charset="0"/>
              </a:rPr>
              <a:t> modeller.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dirty="0">
              <a:latin typeface="Century Gothic" panose="020B0502020202020204" pitchFamily="34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dirty="0">
                <a:latin typeface="Century Gothic" panose="020B0502020202020204" pitchFamily="34" charset="0"/>
              </a:rPr>
              <a:t>Vi </a:t>
            </a:r>
            <a:r>
              <a:rPr lang="en-GB" dirty="0" err="1">
                <a:latin typeface="Century Gothic" panose="020B0502020202020204" pitchFamily="34" charset="0"/>
              </a:rPr>
              <a:t>behöver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således</a:t>
            </a:r>
            <a:r>
              <a:rPr lang="en-GB" dirty="0">
                <a:latin typeface="Century Gothic" panose="020B0502020202020204" pitchFamily="34" charset="0"/>
              </a:rPr>
              <a:t> inte </a:t>
            </a:r>
            <a:r>
              <a:rPr lang="en-GB" dirty="0" err="1">
                <a:latin typeface="Century Gothic" panose="020B0502020202020204" pitchFamily="34" charset="0"/>
              </a:rPr>
              <a:t>bry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oss</a:t>
            </a:r>
            <a:r>
              <a:rPr lang="en-GB" dirty="0">
                <a:latin typeface="Century Gothic" panose="020B0502020202020204" pitchFamily="34" charset="0"/>
              </a:rPr>
              <a:t> om det ‘</a:t>
            </a:r>
            <a:r>
              <a:rPr lang="en-GB" dirty="0" err="1">
                <a:latin typeface="Century Gothic" panose="020B0502020202020204" pitchFamily="34" charset="0"/>
              </a:rPr>
              <a:t>svåra</a:t>
            </a:r>
            <a:r>
              <a:rPr lang="en-GB" dirty="0">
                <a:latin typeface="Century Gothic" panose="020B0502020202020204" pitchFamily="34" charset="0"/>
              </a:rPr>
              <a:t>’, </a:t>
            </a:r>
            <a:r>
              <a:rPr lang="en-GB" dirty="0" err="1">
                <a:latin typeface="Century Gothic" panose="020B0502020202020204" pitchFamily="34" charset="0"/>
              </a:rPr>
              <a:t>utan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kan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istället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fokusera</a:t>
            </a:r>
            <a:r>
              <a:rPr lang="en-GB" dirty="0">
                <a:latin typeface="Century Gothic" panose="020B0502020202020204" pitchFamily="34" charset="0"/>
              </a:rPr>
              <a:t> på </a:t>
            </a:r>
            <a:r>
              <a:rPr lang="en-GB" dirty="0" err="1">
                <a:latin typeface="Century Gothic" panose="020B0502020202020204" pitchFamily="34" charset="0"/>
              </a:rPr>
              <a:t>att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designa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coola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Neurala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Nätverk</a:t>
            </a:r>
            <a:r>
              <a:rPr lang="en-GB" dirty="0">
                <a:latin typeface="Century Gothic" panose="020B0502020202020204" pitchFamily="34" charset="0"/>
              </a:rPr>
              <a:t>!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GB" dirty="0">
              <a:latin typeface="Century Gothic" panose="020B0502020202020204" pitchFamily="34" charset="0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GB" b="1" dirty="0" err="1">
                <a:latin typeface="Century Gothic" panose="020B0502020202020204" pitchFamily="34" charset="0"/>
              </a:rPr>
              <a:t>Grymt</a:t>
            </a:r>
            <a:r>
              <a:rPr lang="en-GB" b="1" dirty="0">
                <a:latin typeface="Century Gothic" panose="020B0502020202020204" pitchFamily="34" charset="0"/>
              </a:rPr>
              <a:t> </a:t>
            </a:r>
            <a:r>
              <a:rPr lang="en-GB" b="1" dirty="0" err="1">
                <a:latin typeface="Century Gothic" panose="020B0502020202020204" pitchFamily="34" charset="0"/>
              </a:rPr>
              <a:t>va</a:t>
            </a:r>
            <a:r>
              <a:rPr lang="en-GB" b="1" dirty="0">
                <a:latin typeface="Century Gothic" panose="020B0502020202020204" pitchFamily="34" charset="0"/>
              </a:rPr>
              <a:t>! </a:t>
            </a:r>
          </a:p>
        </p:txBody>
      </p:sp>
      <p:pic>
        <p:nvPicPr>
          <p:cNvPr id="3" name="Picture 2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BB66883-1DE7-421B-772E-10132A645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580" y="788951"/>
            <a:ext cx="4396995" cy="2484103"/>
          </a:xfrm>
          <a:prstGeom prst="rect">
            <a:avLst/>
          </a:prstGeom>
        </p:spPr>
      </p:pic>
      <p:pic>
        <p:nvPicPr>
          <p:cNvPr id="7" name="Picture 6" descr="A yellow emoji with sunglasses&#10;&#10;Description automatically generated">
            <a:extLst>
              <a:ext uri="{FF2B5EF4-FFF2-40B4-BE49-F238E27FC236}">
                <a16:creationId xmlns:a16="http://schemas.microsoft.com/office/drawing/2014/main" id="{A82E56EE-9FCF-FF53-9649-2D92769C1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4521">
            <a:off x="4869421" y="4320388"/>
            <a:ext cx="1894809" cy="189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8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red circle and black text&#10;&#10;Description automatically generated">
            <a:extLst>
              <a:ext uri="{FF2B5EF4-FFF2-40B4-BE49-F238E27FC236}">
                <a16:creationId xmlns:a16="http://schemas.microsoft.com/office/drawing/2014/main" id="{F5FDABCF-9618-645B-34C3-5D60FC618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91" r="4" b="37031"/>
          <a:stretch/>
        </p:blipFill>
        <p:spPr>
          <a:xfrm>
            <a:off x="22101" y="99237"/>
            <a:ext cx="3559672" cy="992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71EE2-78E2-E909-5B73-974630C3AAFB}"/>
              </a:ext>
            </a:extLst>
          </p:cNvPr>
          <p:cNvSpPr txBox="1"/>
          <p:nvPr/>
        </p:nvSpPr>
        <p:spPr>
          <a:xfrm>
            <a:off x="168295" y="1656207"/>
            <a:ext cx="7097285" cy="149271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dirty="0">
                <a:latin typeface="Century Gothic" panose="020B0502020202020204" pitchFamily="34" charset="0"/>
              </a:rPr>
              <a:t>Google </a:t>
            </a:r>
            <a:r>
              <a:rPr lang="en-GB" dirty="0" err="1">
                <a:latin typeface="Century Gothic" panose="020B0502020202020204" pitchFamily="34" charset="0"/>
              </a:rPr>
              <a:t>Colab</a:t>
            </a:r>
            <a:r>
              <a:rPr lang="en-GB" dirty="0">
                <a:latin typeface="Century Gothic" panose="020B0502020202020204" pitchFamily="34" charset="0"/>
              </a:rPr>
              <a:t> har </a:t>
            </a:r>
            <a:r>
              <a:rPr lang="en-GB" dirty="0" err="1">
                <a:latin typeface="Century Gothic" panose="020B0502020202020204" pitchFamily="34" charset="0"/>
              </a:rPr>
              <a:t>stöd</a:t>
            </a:r>
            <a:r>
              <a:rPr lang="en-GB" dirty="0">
                <a:latin typeface="Century Gothic" panose="020B0502020202020204" pitchFamily="34" charset="0"/>
              </a:rPr>
              <a:t> för </a:t>
            </a:r>
            <a:r>
              <a:rPr lang="en-GB" dirty="0" err="1">
                <a:latin typeface="Century Gothic" panose="020B0502020202020204" pitchFamily="34" charset="0"/>
              </a:rPr>
              <a:t>PyTorch</a:t>
            </a:r>
            <a:r>
              <a:rPr lang="en-GB" dirty="0">
                <a:latin typeface="Century Gothic" panose="020B0502020202020204" pitchFamily="34" charset="0"/>
              </a:rPr>
              <a:t> redan, men om </a:t>
            </a:r>
            <a:r>
              <a:rPr lang="en-GB" dirty="0" err="1">
                <a:latin typeface="Century Gothic" panose="020B0502020202020204" pitchFamily="34" charset="0"/>
              </a:rPr>
              <a:t>ni</a:t>
            </a:r>
            <a:r>
              <a:rPr lang="en-GB" dirty="0">
                <a:latin typeface="Century Gothic" panose="020B0502020202020204" pitchFamily="34" charset="0"/>
              </a:rPr>
              <a:t> vill </a:t>
            </a:r>
            <a:r>
              <a:rPr lang="en-GB" dirty="0" err="1">
                <a:latin typeface="Century Gothic" panose="020B0502020202020204" pitchFamily="34" charset="0"/>
              </a:rPr>
              <a:t>installera</a:t>
            </a:r>
            <a:r>
              <a:rPr lang="en-GB" dirty="0">
                <a:latin typeface="Century Gothic" panose="020B0502020202020204" pitchFamily="34" charset="0"/>
              </a:rPr>
              <a:t> det </a:t>
            </a:r>
            <a:r>
              <a:rPr lang="en-GB" dirty="0" err="1">
                <a:latin typeface="Century Gothic" panose="020B0502020202020204" pitchFamily="34" charset="0"/>
              </a:rPr>
              <a:t>lokalt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gör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ni</a:t>
            </a:r>
            <a:r>
              <a:rPr lang="en-GB" dirty="0">
                <a:latin typeface="Century Gothic" panose="020B0502020202020204" pitchFamily="34" charset="0"/>
              </a:rPr>
              <a:t> det </a:t>
            </a:r>
            <a:r>
              <a:rPr lang="en-GB" dirty="0" err="1">
                <a:latin typeface="Century Gothic" panose="020B0502020202020204" pitchFamily="34" charset="0"/>
              </a:rPr>
              <a:t>enklast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genom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att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följa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instruktionerna</a:t>
            </a:r>
            <a:r>
              <a:rPr lang="en-GB" dirty="0">
                <a:latin typeface="Century Gothic" panose="020B0502020202020204" pitchFamily="34" charset="0"/>
              </a:rPr>
              <a:t> på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GB" dirty="0"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dirty="0">
                <a:latin typeface="Century Gothic" panose="020B0502020202020204" pitchFamily="34" charset="0"/>
              </a:rPr>
              <a:t>	https://pytorch.org/get-started/locally/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0F6BD1-C2D7-6249-5D13-63A822A8A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92" y="3567311"/>
            <a:ext cx="6353215" cy="233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5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red circle and black text&#10;&#10;Description automatically generated">
            <a:extLst>
              <a:ext uri="{FF2B5EF4-FFF2-40B4-BE49-F238E27FC236}">
                <a16:creationId xmlns:a16="http://schemas.microsoft.com/office/drawing/2014/main" id="{F5FDABCF-9618-645B-34C3-5D60FC618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91" r="4" b="37031"/>
          <a:stretch/>
        </p:blipFill>
        <p:spPr>
          <a:xfrm>
            <a:off x="22101" y="99237"/>
            <a:ext cx="3559672" cy="992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71EE2-78E2-E909-5B73-974630C3AAFB}"/>
              </a:ext>
            </a:extLst>
          </p:cNvPr>
          <p:cNvSpPr txBox="1"/>
          <p:nvPr/>
        </p:nvSpPr>
        <p:spPr>
          <a:xfrm>
            <a:off x="389859" y="1591914"/>
            <a:ext cx="4361175" cy="3416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u="sng" dirty="0" err="1">
                <a:latin typeface="Century Gothic" panose="020B0502020202020204" pitchFamily="34" charset="0"/>
              </a:rPr>
              <a:t>Verifiera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att</a:t>
            </a:r>
            <a:r>
              <a:rPr lang="en-GB" u="sng" dirty="0">
                <a:latin typeface="Century Gothic" panose="020B0502020202020204" pitchFamily="34" charset="0"/>
              </a:rPr>
              <a:t> installation </a:t>
            </a:r>
            <a:r>
              <a:rPr lang="en-GB" u="sng" dirty="0" err="1">
                <a:latin typeface="Century Gothic" panose="020B0502020202020204" pitchFamily="34" charset="0"/>
              </a:rPr>
              <a:t>utförts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korrekt</a:t>
            </a:r>
            <a:r>
              <a:rPr lang="en-GB" u="sng" dirty="0">
                <a:latin typeface="Century Gothic" panose="020B0502020202020204" pitchFamily="34" charset="0"/>
              </a:rPr>
              <a:t>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2E57BF-DD2E-FEE7-1CF0-6019318BA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59" y="2467148"/>
            <a:ext cx="2141933" cy="161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import torch 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SE" sz="1600" dirty="0">
                <a:latin typeface="Century Gothic" panose="020B0502020202020204" pitchFamily="34" charset="0"/>
              </a:rPr>
              <a:t>x = </a:t>
            </a:r>
            <a:r>
              <a:rPr kumimoji="0" lang="en-SE" altLang="en-S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torch.rand</a:t>
            </a: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(5, 3) </a:t>
            </a:r>
            <a:endParaRPr kumimoji="0" lang="en-GB" alt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SE" sz="160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print(x)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C25DE-2B0C-D6C9-507F-5B5B8D3BF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859" y="4408240"/>
            <a:ext cx="336181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tensor([[0.3380, 0.3845, 0.3217], </a:t>
            </a:r>
            <a:b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        </a:t>
            </a: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[0.8337, 0.9050, 0.2650], </a:t>
            </a:r>
            <a:b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        </a:t>
            </a: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[0.2979, 0.7141, 0.9069], </a:t>
            </a:r>
            <a:b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        </a:t>
            </a: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[0.1449, 0.1132, 0.1375], </a:t>
            </a:r>
            <a:b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        </a:t>
            </a: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[0.4675, 0.3947, 0.1426]])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2AE25-06AA-BE8B-9A94-56A7A98503F4}"/>
              </a:ext>
            </a:extLst>
          </p:cNvPr>
          <p:cNvSpPr txBox="1"/>
          <p:nvPr/>
        </p:nvSpPr>
        <p:spPr>
          <a:xfrm>
            <a:off x="6096000" y="1592412"/>
            <a:ext cx="5458047" cy="3416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u="sng" dirty="0" err="1">
                <a:latin typeface="Century Gothic" panose="020B0502020202020204" pitchFamily="34" charset="0"/>
              </a:rPr>
              <a:t>Verifiera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att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PyTorch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även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känner</a:t>
            </a:r>
            <a:r>
              <a:rPr lang="en-GB" u="sng" dirty="0">
                <a:latin typeface="Century Gothic" panose="020B0502020202020204" pitchFamily="34" charset="0"/>
              </a:rPr>
              <a:t> </a:t>
            </a:r>
            <a:r>
              <a:rPr lang="en-GB" u="sng" dirty="0" err="1">
                <a:latin typeface="Century Gothic" panose="020B0502020202020204" pitchFamily="34" charset="0"/>
              </a:rPr>
              <a:t>igen</a:t>
            </a:r>
            <a:r>
              <a:rPr lang="en-GB" u="sng" dirty="0">
                <a:latin typeface="Century Gothic" panose="020B0502020202020204" pitchFamily="34" charset="0"/>
              </a:rPr>
              <a:t> din GPU: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DCAF2F-8B4E-8425-B572-932E5557B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467148"/>
            <a:ext cx="2664512" cy="147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import torch </a:t>
            </a:r>
            <a:b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b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r>
              <a:rPr kumimoji="0" lang="en-SE" altLang="en-S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torch.cuda.is_available</a:t>
            </a:r>
            <a:r>
              <a:rPr kumimoji="0" lang="en-SE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SE" sz="1600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GB" altLang="en-S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True</a:t>
            </a:r>
            <a:r>
              <a:rPr lang="en-GB" altLang="en-SE" sz="1600" dirty="0">
                <a:latin typeface="Century Gothic" panose="020B0502020202020204" pitchFamily="34" charset="0"/>
              </a:rPr>
              <a:t>/False</a:t>
            </a:r>
            <a:endParaRPr kumimoji="0" lang="en-SE" alt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2BB6B6-5354-361F-13B6-A833A84D5F90}"/>
              </a:ext>
            </a:extLst>
          </p:cNvPr>
          <p:cNvCxnSpPr>
            <a:cxnSpLocks/>
          </p:cNvCxnSpPr>
          <p:nvPr/>
        </p:nvCxnSpPr>
        <p:spPr>
          <a:xfrm>
            <a:off x="5465135" y="1368056"/>
            <a:ext cx="0" cy="492641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3B5B832-EF30-95AC-C35A-8C256EF86B3B}"/>
              </a:ext>
            </a:extLst>
          </p:cNvPr>
          <p:cNvSpPr txBox="1"/>
          <p:nvPr/>
        </p:nvSpPr>
        <p:spPr>
          <a:xfrm>
            <a:off x="715927" y="6053866"/>
            <a:ext cx="3827720" cy="27699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GB" sz="1200" i="1" dirty="0">
                <a:latin typeface="Century Gothic" panose="020B0502020202020204" pitchFamily="34" charset="0"/>
              </a:rPr>
              <a:t>Tensor </a:t>
            </a:r>
            <a:r>
              <a:rPr lang="en-GB" sz="1200" dirty="0">
                <a:latin typeface="Century Gothic" panose="020B0502020202020204" pitchFamily="34" charset="0"/>
              </a:rPr>
              <a:t>är en </a:t>
            </a:r>
            <a:r>
              <a:rPr lang="en-GB" sz="1200" dirty="0" err="1">
                <a:latin typeface="Century Gothic" panose="020B0502020202020204" pitchFamily="34" charset="0"/>
              </a:rPr>
              <a:t>speciell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datatyp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som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PyTorch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nyttjar</a:t>
            </a:r>
            <a:endParaRPr lang="en-SE" sz="1200" i="1" dirty="0">
              <a:latin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CDDC8-7C1A-228F-AEBD-5B38CDBAEAEF}"/>
              </a:ext>
            </a:extLst>
          </p:cNvPr>
          <p:cNvSpPr txBox="1"/>
          <p:nvPr/>
        </p:nvSpPr>
        <p:spPr>
          <a:xfrm>
            <a:off x="7120269" y="4318379"/>
            <a:ext cx="3880886" cy="101566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GB" sz="1200" dirty="0">
                <a:latin typeface="Century Gothic" panose="020B0502020202020204" pitchFamily="34" charset="0"/>
              </a:rPr>
              <a:t>Ni </a:t>
            </a:r>
            <a:r>
              <a:rPr lang="en-GB" sz="1200" dirty="0" err="1">
                <a:latin typeface="Century Gothic" panose="020B0502020202020204" pitchFamily="34" charset="0"/>
              </a:rPr>
              <a:t>kan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givetvis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köra</a:t>
            </a:r>
            <a:r>
              <a:rPr lang="en-GB" sz="1200" dirty="0">
                <a:latin typeface="Century Gothic" panose="020B0502020202020204" pitchFamily="34" charset="0"/>
              </a:rPr>
              <a:t> på CPU </a:t>
            </a:r>
            <a:r>
              <a:rPr lang="en-GB" sz="1200" dirty="0" err="1">
                <a:latin typeface="Century Gothic" panose="020B0502020202020204" pitchFamily="34" charset="0"/>
              </a:rPr>
              <a:t>också</a:t>
            </a:r>
            <a:r>
              <a:rPr lang="en-GB" sz="1200" dirty="0">
                <a:latin typeface="Century Gothic" panose="020B0502020202020204" pitchFamily="34" charset="0"/>
              </a:rPr>
              <a:t> om inte har en </a:t>
            </a:r>
            <a:r>
              <a:rPr lang="en-GB" sz="1200" dirty="0" err="1">
                <a:latin typeface="Century Gothic" panose="020B0502020202020204" pitchFamily="34" charset="0"/>
              </a:rPr>
              <a:t>kompatibel</a:t>
            </a:r>
            <a:r>
              <a:rPr lang="en-GB" sz="1200" dirty="0">
                <a:latin typeface="Century Gothic" panose="020B0502020202020204" pitchFamily="34" charset="0"/>
              </a:rPr>
              <a:t> GPU </a:t>
            </a:r>
            <a:r>
              <a:rPr lang="en-GB" sz="1200" dirty="0" err="1">
                <a:latin typeface="Century Gothic" panose="020B0502020202020204" pitchFamily="34" charset="0"/>
              </a:rPr>
              <a:t>lokalt</a:t>
            </a:r>
            <a:r>
              <a:rPr lang="en-GB" sz="1200" dirty="0">
                <a:latin typeface="Century Gothic" panose="020B0502020202020204" pitchFamily="34" charset="0"/>
              </a:rPr>
              <a:t>, </a:t>
            </a:r>
            <a:r>
              <a:rPr lang="en-GB" sz="1200" dirty="0" err="1">
                <a:latin typeface="Century Gothic" panose="020B0502020202020204" pitchFamily="34" charset="0"/>
              </a:rPr>
              <a:t>annars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finns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alltid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Colab</a:t>
            </a:r>
            <a:r>
              <a:rPr lang="en-GB" sz="120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n-GB" sz="1200" dirty="0">
              <a:latin typeface="Century Gothic" panose="020B0502020202020204" pitchFamily="34" charset="0"/>
            </a:endParaRPr>
          </a:p>
          <a:p>
            <a:pPr algn="just"/>
            <a:r>
              <a:rPr lang="en-GB" sz="1200" dirty="0" err="1">
                <a:latin typeface="Century Gothic" panose="020B0502020202020204" pitchFamily="34" charset="0"/>
              </a:rPr>
              <a:t>PyTorch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defaultar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automatiskt</a:t>
            </a:r>
            <a:r>
              <a:rPr lang="en-GB" sz="1200" dirty="0">
                <a:latin typeface="Century Gothic" panose="020B0502020202020204" pitchFamily="34" charset="0"/>
              </a:rPr>
              <a:t> till CPU-</a:t>
            </a:r>
            <a:r>
              <a:rPr lang="en-GB" sz="1200" dirty="0" err="1">
                <a:latin typeface="Century Gothic" panose="020B0502020202020204" pitchFamily="34" charset="0"/>
              </a:rPr>
              <a:t>läge</a:t>
            </a:r>
            <a:r>
              <a:rPr lang="en-GB" sz="1200" dirty="0">
                <a:latin typeface="Century Gothic" panose="020B0502020202020204" pitchFamily="34" charset="0"/>
              </a:rPr>
              <a:t> om det inte </a:t>
            </a:r>
            <a:r>
              <a:rPr lang="en-GB" sz="1200" dirty="0" err="1">
                <a:latin typeface="Century Gothic" panose="020B0502020202020204" pitchFamily="34" charset="0"/>
              </a:rPr>
              <a:t>lyckas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identifiera</a:t>
            </a:r>
            <a:r>
              <a:rPr lang="en-GB" sz="1200" dirty="0">
                <a:latin typeface="Century Gothic" panose="020B0502020202020204" pitchFamily="34" charset="0"/>
              </a:rPr>
              <a:t> </a:t>
            </a:r>
            <a:r>
              <a:rPr lang="en-GB" sz="1200" dirty="0" err="1">
                <a:latin typeface="Century Gothic" panose="020B0502020202020204" pitchFamily="34" charset="0"/>
              </a:rPr>
              <a:t>minst</a:t>
            </a:r>
            <a:r>
              <a:rPr lang="en-GB" sz="1200" dirty="0">
                <a:latin typeface="Century Gothic" panose="020B0502020202020204" pitchFamily="34" charset="0"/>
              </a:rPr>
              <a:t> en GPU.</a:t>
            </a:r>
            <a:endParaRPr lang="en-SE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3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2E57BF-DD2E-FEE7-1CF0-6019318BA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06" y="1236051"/>
            <a:ext cx="7230142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Vi kommer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idag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gå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igenom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exempel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end-to-end, för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skapa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oss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helhetsgrepp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om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hur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det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går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till.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SE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Specifikt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ska vi:</a:t>
            </a:r>
            <a:endParaRPr kumimoji="0" lang="en-SE" altLang="en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2830224" y="2759627"/>
            <a:ext cx="38237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Ta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fram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och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förbered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träningsdata</a:t>
            </a:r>
            <a:endParaRPr lang="en-US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Välj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lämplig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loss-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funktion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(MAE för regression).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Skapa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modell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PyTorch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Neuron den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här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gången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Träna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modellen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355066" y="107608"/>
            <a:ext cx="3481865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 err="1">
                <a:latin typeface="Century Gothic" panose="020B0502020202020204" pitchFamily="34" charset="0"/>
              </a:rPr>
              <a:t>Dagens</a:t>
            </a:r>
            <a:r>
              <a:rPr lang="en-GB" altLang="en-SE" sz="3200" dirty="0">
                <a:latin typeface="Century Gothic" panose="020B0502020202020204" pitchFamily="34" charset="0"/>
              </a:rPr>
              <a:t> </a:t>
            </a:r>
            <a:r>
              <a:rPr lang="en-GB" altLang="en-SE" sz="3200" dirty="0" err="1">
                <a:latin typeface="Century Gothic" panose="020B0502020202020204" pitchFamily="34" charset="0"/>
              </a:rPr>
              <a:t>målbild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D115FD6-AB6E-72D4-EE46-8FB91AD7D9CD}"/>
              </a:ext>
            </a:extLst>
          </p:cNvPr>
          <p:cNvSpPr/>
          <p:nvPr/>
        </p:nvSpPr>
        <p:spPr>
          <a:xfrm>
            <a:off x="6654017" y="2759627"/>
            <a:ext cx="318977" cy="2251852"/>
          </a:xfrm>
          <a:prstGeom prst="rightBrace">
            <a:avLst>
              <a:gd name="adj1" fmla="val 8333"/>
              <a:gd name="adj2" fmla="val 506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CFF9B-735D-FCC5-A82E-A682FF960C44}"/>
              </a:ext>
            </a:extLst>
          </p:cNvPr>
          <p:cNvSpPr txBox="1"/>
          <p:nvPr/>
        </p:nvSpPr>
        <p:spPr>
          <a:xfrm>
            <a:off x="7157676" y="3714577"/>
            <a:ext cx="2652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Detta </a:t>
            </a:r>
            <a:r>
              <a:rPr lang="en-US" dirty="0" err="1">
                <a:latin typeface="Century Gothic" panose="020B0502020202020204" pitchFamily="34" charset="0"/>
              </a:rPr>
              <a:t>utför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manuellt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5ED2A0F-CD27-704E-106C-3C850123175C}"/>
              </a:ext>
            </a:extLst>
          </p:cNvPr>
          <p:cNvSpPr/>
          <p:nvPr/>
        </p:nvSpPr>
        <p:spPr>
          <a:xfrm>
            <a:off x="6654017" y="5168527"/>
            <a:ext cx="318977" cy="426596"/>
          </a:xfrm>
          <a:prstGeom prst="rightBrace">
            <a:avLst>
              <a:gd name="adj1" fmla="val 8333"/>
              <a:gd name="adj2" fmla="val 506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4541EC-27A0-8C55-228B-D3ABE79341DE}"/>
              </a:ext>
            </a:extLst>
          </p:cNvPr>
          <p:cNvSpPr txBox="1"/>
          <p:nvPr/>
        </p:nvSpPr>
        <p:spPr>
          <a:xfrm>
            <a:off x="7157676" y="5202087"/>
            <a:ext cx="3474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entury Gothic" panose="020B0502020202020204" pitchFamily="34" charset="0"/>
              </a:rPr>
              <a:t>Sköts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automatiskt</a:t>
            </a:r>
            <a:r>
              <a:rPr lang="en-US" dirty="0">
                <a:latin typeface="Century Gothic" panose="020B0502020202020204" pitchFamily="34" charset="0"/>
              </a:rPr>
              <a:t> av </a:t>
            </a:r>
            <a:r>
              <a:rPr lang="en-US" dirty="0" err="1">
                <a:latin typeface="Century Gothic" panose="020B0502020202020204" pitchFamily="34" charset="0"/>
              </a:rPr>
              <a:t>PyTorch</a:t>
            </a:r>
            <a:r>
              <a:rPr lang="en-US" dirty="0">
                <a:latin typeface="Century Gothic" panose="020B0502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6495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2830224" y="2759627"/>
            <a:ext cx="38237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Ta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fram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och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förbered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träningsdata</a:t>
            </a:r>
            <a:endParaRPr lang="en-US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Välj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lämplig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loss-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funktion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(MAE för regression).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Skapa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modell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PyTorch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Neuron den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här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gången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Träna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modellen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355066" y="107608"/>
            <a:ext cx="3481865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 err="1">
                <a:latin typeface="Century Gothic" panose="020B0502020202020204" pitchFamily="34" charset="0"/>
              </a:rPr>
              <a:t>Dagens</a:t>
            </a:r>
            <a:r>
              <a:rPr lang="en-GB" altLang="en-SE" sz="3200" dirty="0">
                <a:latin typeface="Century Gothic" panose="020B0502020202020204" pitchFamily="34" charset="0"/>
              </a:rPr>
              <a:t> </a:t>
            </a:r>
            <a:r>
              <a:rPr lang="en-GB" altLang="en-SE" sz="3200" dirty="0" err="1">
                <a:latin typeface="Century Gothic" panose="020B0502020202020204" pitchFamily="34" charset="0"/>
              </a:rPr>
              <a:t>målbild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A1B9BD-778C-EF93-3502-0937E8951C03}"/>
              </a:ext>
            </a:extLst>
          </p:cNvPr>
          <p:cNvCxnSpPr>
            <a:cxnSpLocks/>
          </p:cNvCxnSpPr>
          <p:nvPr/>
        </p:nvCxnSpPr>
        <p:spPr>
          <a:xfrm flipH="1">
            <a:off x="7043484" y="2997201"/>
            <a:ext cx="188909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7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8C0400EE-EAB2-6DAD-81D6-02D648D19682}"/>
              </a:ext>
            </a:extLst>
          </p:cNvPr>
          <p:cNvSpPr txBox="1">
            <a:spLocks noChangeArrowheads="1"/>
          </p:cNvSpPr>
          <p:nvPr/>
        </p:nvSpPr>
        <p:spPr>
          <a:xfrm>
            <a:off x="5190091" y="77647"/>
            <a:ext cx="1811818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Dataset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16" name="Picture 15" descr="A person writing on a chalkboard&#10;&#10;Description automatically generated">
            <a:extLst>
              <a:ext uri="{FF2B5EF4-FFF2-40B4-BE49-F238E27FC236}">
                <a16:creationId xmlns:a16="http://schemas.microsoft.com/office/drawing/2014/main" id="{173B4686-AC48-2C3F-DAAD-57B9534C4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222" y="1134139"/>
            <a:ext cx="2951125" cy="442668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2D14903-4962-BD98-A827-64C88261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6" y="1513091"/>
            <a:ext cx="7489064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Vi ska för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dagens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övning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använda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dataset med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studentdata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där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slutbetyg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för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varje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student är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angett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tillsammans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med en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drös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variablar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som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rimligtvis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antas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vara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relevanta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för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kunna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förutspå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just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slutbetyg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SE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Vår</a:t>
            </a:r>
            <a:r>
              <a:rPr kumimoji="0" lang="en-GB" altLang="en-SE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uppgift</a:t>
            </a:r>
            <a:r>
              <a:rPr kumimoji="0" lang="en-GB" altLang="en-SE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är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alltså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förutspå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slutbetyg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för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varje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student.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Slutebetyg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är en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siffra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mellan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(0-20), och vi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kan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därför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hantera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detta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som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regressionsproblem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SE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Länk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till dataset:</a:t>
            </a:r>
            <a:endParaRPr lang="en-GB" dirty="0">
              <a:hlinkClick r:id="rId3"/>
            </a:endParaRPr>
          </a:p>
          <a:p>
            <a:r>
              <a:rPr lang="en-SE" dirty="0">
                <a:latin typeface="Century Gothic" panose="020B0502020202020204" pitchFamily="34" charset="0"/>
                <a:hlinkClick r:id="rId3"/>
              </a:rPr>
              <a:t>https://archive.ics.uci.edu/dataset/320/student+performance</a:t>
            </a:r>
            <a:endParaRPr lang="en-SE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altLang="en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4BBEAF-737F-9189-4650-F91179F8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689" y="886046"/>
            <a:ext cx="9262622" cy="3270798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8C0400EE-EAB2-6DAD-81D6-02D648D19682}"/>
              </a:ext>
            </a:extLst>
          </p:cNvPr>
          <p:cNvSpPr txBox="1">
            <a:spLocks noChangeArrowheads="1"/>
          </p:cNvSpPr>
          <p:nvPr/>
        </p:nvSpPr>
        <p:spPr>
          <a:xfrm>
            <a:off x="5190091" y="77647"/>
            <a:ext cx="1811818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Dataset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2356B-5B45-F900-97F2-8C01721D9530}"/>
              </a:ext>
            </a:extLst>
          </p:cNvPr>
          <p:cNvSpPr/>
          <p:nvPr/>
        </p:nvSpPr>
        <p:spPr>
          <a:xfrm>
            <a:off x="1464689" y="3976577"/>
            <a:ext cx="1441544" cy="18026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46A01-9242-DEAA-75E1-E5E5BD393693}"/>
              </a:ext>
            </a:extLst>
          </p:cNvPr>
          <p:cNvSpPr txBox="1"/>
          <p:nvPr/>
        </p:nvSpPr>
        <p:spPr>
          <a:xfrm>
            <a:off x="1386718" y="4638046"/>
            <a:ext cx="5318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  <a:latin typeface="Century Gothic" panose="020B0502020202020204" pitchFamily="34" charset="0"/>
              </a:rPr>
              <a:t>Vi </a:t>
            </a:r>
            <a:r>
              <a:rPr lang="en-US" sz="1400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har</a:t>
            </a:r>
            <a:r>
              <a:rPr lang="en-US" sz="1400" dirty="0">
                <a:solidFill>
                  <a:srgbClr val="00B0F0"/>
                </a:solidFill>
                <a:latin typeface="Century Gothic" panose="020B0502020202020204" pitchFamily="34" charset="0"/>
              </a:rPr>
              <a:t> data för 649 </a:t>
            </a:r>
            <a:r>
              <a:rPr lang="en-US" sz="1400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studenter</a:t>
            </a:r>
            <a:r>
              <a:rPr lang="en-US" sz="1400" dirty="0">
                <a:solidFill>
                  <a:srgbClr val="00B0F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totalt</a:t>
            </a:r>
            <a:r>
              <a:rPr lang="en-US" sz="1400" dirty="0">
                <a:solidFill>
                  <a:srgbClr val="00B0F0"/>
                </a:solidFill>
                <a:latin typeface="Century Gothic" panose="020B0502020202020204" pitchFamily="34" charset="0"/>
              </a:rPr>
              <a:t> 33 </a:t>
            </a:r>
            <a:r>
              <a:rPr lang="en-US" sz="1400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datapunkter</a:t>
            </a:r>
            <a:r>
              <a:rPr lang="en-US" sz="1400" dirty="0">
                <a:solidFill>
                  <a:srgbClr val="00B0F0"/>
                </a:solidFill>
                <a:latin typeface="Century Gothic" panose="020B0502020202020204" pitchFamily="34" charset="0"/>
              </a:rPr>
              <a:t> för </a:t>
            </a:r>
            <a:r>
              <a:rPr lang="en-US" sz="1400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varje</a:t>
            </a:r>
            <a:endParaRPr lang="en-US" sz="140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2834D-7670-0E2D-FDD7-00872355CDB7}"/>
              </a:ext>
            </a:extLst>
          </p:cNvPr>
          <p:cNvSpPr/>
          <p:nvPr/>
        </p:nvSpPr>
        <p:spPr>
          <a:xfrm>
            <a:off x="10391554" y="907310"/>
            <a:ext cx="269358" cy="2927499"/>
          </a:xfrm>
          <a:prstGeom prst="rect">
            <a:avLst/>
          </a:prstGeom>
          <a:noFill/>
          <a:ln w="1905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5E491-74BE-A886-3B40-143C1DEE3CCE}"/>
              </a:ext>
            </a:extLst>
          </p:cNvPr>
          <p:cNvSpPr txBox="1"/>
          <p:nvPr/>
        </p:nvSpPr>
        <p:spPr>
          <a:xfrm>
            <a:off x="1386717" y="5045627"/>
            <a:ext cx="66018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Kolumnen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</a:t>
            </a:r>
            <a:r>
              <a:rPr lang="en-US" sz="1400" i="1" dirty="0">
                <a:solidFill>
                  <a:srgbClr val="70AD47"/>
                </a:solidFill>
                <a:latin typeface="Century Gothic" panose="020B0502020202020204" pitchFamily="34" charset="0"/>
              </a:rPr>
              <a:t>G3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motsvarar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slutbetyg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och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det vi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vill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träna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för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70AD47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70AD47"/>
                </a:solidFill>
                <a:latin typeface="Century Gothic" panose="020B0502020202020204" pitchFamily="34" charset="0"/>
              </a:rPr>
              <a:t>förutspå</a:t>
            </a:r>
            <a:endParaRPr lang="en-US" sz="1400" i="1" dirty="0">
              <a:solidFill>
                <a:srgbClr val="70AD47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6320F-0473-EA3C-8D03-76F5820C8815}"/>
              </a:ext>
            </a:extLst>
          </p:cNvPr>
          <p:cNvSpPr txBox="1"/>
          <p:nvPr/>
        </p:nvSpPr>
        <p:spPr>
          <a:xfrm>
            <a:off x="3132409" y="5718967"/>
            <a:ext cx="5927181" cy="52322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Century Gothic" panose="020B0502020202020204" pitchFamily="34" charset="0"/>
              </a:rPr>
              <a:t>För </a:t>
            </a:r>
            <a:r>
              <a:rPr lang="en-US" sz="1400" dirty="0" err="1">
                <a:latin typeface="Century Gothic" panose="020B0502020202020204" pitchFamily="34" charset="0"/>
              </a:rPr>
              <a:t>en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beskrivning</a:t>
            </a:r>
            <a:r>
              <a:rPr lang="en-US" sz="1400" dirty="0">
                <a:latin typeface="Century Gothic" panose="020B0502020202020204" pitchFamily="34" charset="0"/>
              </a:rPr>
              <a:t> av </a:t>
            </a:r>
            <a:r>
              <a:rPr lang="en-US" sz="1400" dirty="0" err="1">
                <a:latin typeface="Century Gothic" panose="020B0502020202020204" pitchFamily="34" charset="0"/>
              </a:rPr>
              <a:t>övriga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attribut</a:t>
            </a:r>
            <a:r>
              <a:rPr lang="en-US" sz="1400" dirty="0"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latin typeface="Century Gothic" panose="020B0502020202020204" pitchFamily="34" charset="0"/>
              </a:rPr>
              <a:t>läs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på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direkt</a:t>
            </a:r>
            <a:r>
              <a:rPr lang="en-US" sz="1400" dirty="0">
                <a:latin typeface="Century Gothic" panose="020B0502020202020204" pitchFamily="34" charset="0"/>
              </a:rPr>
              <a:t> via </a:t>
            </a:r>
            <a:r>
              <a:rPr lang="en-US" sz="1400" dirty="0" err="1">
                <a:latin typeface="Century Gothic" panose="020B0502020202020204" pitchFamily="34" charset="0"/>
              </a:rPr>
              <a:t>källhemsidan</a:t>
            </a:r>
            <a:r>
              <a:rPr lang="en-US" sz="1400" dirty="0"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latin typeface="Century Gothic" panose="020B0502020202020204" pitchFamily="34" charset="0"/>
              </a:rPr>
              <a:t>eller</a:t>
            </a:r>
            <a:r>
              <a:rPr lang="en-US" sz="1400" dirty="0">
                <a:latin typeface="Century Gothic" panose="020B0502020202020204" pitchFamily="34" charset="0"/>
              </a:rPr>
              <a:t> se </a:t>
            </a:r>
            <a:r>
              <a:rPr lang="en-US" sz="1400" dirty="0" err="1">
                <a:latin typeface="Century Gothic" panose="020B0502020202020204" pitchFamily="34" charset="0"/>
              </a:rPr>
              <a:t>beskrivande</a:t>
            </a:r>
            <a:r>
              <a:rPr lang="en-US" sz="1400" dirty="0">
                <a:latin typeface="Century Gothic" panose="020B0502020202020204" pitchFamily="34" charset="0"/>
              </a:rPr>
              <a:t> text via </a:t>
            </a:r>
            <a:r>
              <a:rPr lang="en-US" sz="1400" dirty="0" err="1">
                <a:latin typeface="Century Gothic" panose="020B0502020202020204" pitchFamily="34" charset="0"/>
              </a:rPr>
              <a:t>studentportalen</a:t>
            </a:r>
            <a:r>
              <a:rPr lang="en-US" sz="1400" dirty="0">
                <a:latin typeface="Century Gothic" panose="020B0502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78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2FDBB-73A3-A3A2-78FE-44FAEAE31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947" y="3429000"/>
            <a:ext cx="6013545" cy="23237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4BBEAF-737F-9189-4650-F91179F81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947" y="632872"/>
            <a:ext cx="6013544" cy="2223743"/>
          </a:xfrm>
          <a:prstGeom prst="rect">
            <a:avLst/>
          </a:prstGeom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8C0400EE-EAB2-6DAD-81D6-02D648D19682}"/>
              </a:ext>
            </a:extLst>
          </p:cNvPr>
          <p:cNvSpPr txBox="1">
            <a:spLocks noChangeArrowheads="1"/>
          </p:cNvSpPr>
          <p:nvPr/>
        </p:nvSpPr>
        <p:spPr>
          <a:xfrm>
            <a:off x="5190091" y="77647"/>
            <a:ext cx="1811818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Dataset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814FC9-9F95-EAC1-E04E-D6F8DB53249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582719" y="2856615"/>
            <a:ext cx="0" cy="572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268B64B-73CC-D9CC-A3F3-E650A79A41D1}"/>
              </a:ext>
            </a:extLst>
          </p:cNvPr>
          <p:cNvSpPr txBox="1"/>
          <p:nvPr/>
        </p:nvSpPr>
        <p:spPr>
          <a:xfrm rot="19957476">
            <a:off x="7536918" y="1483134"/>
            <a:ext cx="2091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RAW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D722AD-7542-0EE3-A37A-04E09D368B1C}"/>
              </a:ext>
            </a:extLst>
          </p:cNvPr>
          <p:cNvSpPr txBox="1"/>
          <p:nvPr/>
        </p:nvSpPr>
        <p:spPr>
          <a:xfrm rot="19957476">
            <a:off x="7164009" y="4284382"/>
            <a:ext cx="3184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AD47"/>
                </a:solidFill>
                <a:latin typeface="Century Gothic" panose="020B0502020202020204" pitchFamily="34" charset="0"/>
              </a:rPr>
              <a:t>PROCESSED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FF9E74-2C8D-C789-57E5-8B484C00D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26" y="603651"/>
            <a:ext cx="475748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Vi kommer inte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gå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igenom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alla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stegen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här,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då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det inte är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något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nytt</a:t>
            </a:r>
            <a:r>
              <a:rPr kumimoji="0" lang="en-GB" altLang="en-S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tabLst/>
            </a:pPr>
            <a:br>
              <a:rPr lang="en-GB" dirty="0">
                <a:latin typeface="Century Gothic" panose="020B0502020202020204" pitchFamily="34" charset="0"/>
              </a:rPr>
            </a:br>
            <a:r>
              <a:rPr lang="en-GB" dirty="0" err="1">
                <a:latin typeface="Century Gothic" panose="020B0502020202020204" pitchFamily="34" charset="0"/>
              </a:rPr>
              <a:t>Kortfattat</a:t>
            </a:r>
            <a:r>
              <a:rPr lang="en-GB" dirty="0">
                <a:latin typeface="Century Gothic" panose="020B0502020202020204" pitchFamily="34" charset="0"/>
              </a:rPr>
              <a:t> har vi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tabLst/>
            </a:pPr>
            <a:endParaRPr lang="en-GB" dirty="0">
              <a:latin typeface="Century Gothic" panose="020B0502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dirty="0" err="1">
                <a:latin typeface="Century Gothic" panose="020B0502020202020204" pitchFamily="34" charset="0"/>
              </a:rPr>
              <a:t>valt</a:t>
            </a:r>
            <a:r>
              <a:rPr lang="en-GB" dirty="0">
                <a:latin typeface="Century Gothic" panose="020B0502020202020204" pitchFamily="34" charset="0"/>
              </a:rPr>
              <a:t> bort </a:t>
            </a:r>
            <a:r>
              <a:rPr lang="en-GB" dirty="0" err="1">
                <a:latin typeface="Century Gothic" panose="020B0502020202020204" pitchFamily="34" charset="0"/>
              </a:rPr>
              <a:t>ett</a:t>
            </a:r>
            <a:r>
              <a:rPr lang="en-GB" dirty="0">
                <a:latin typeface="Century Gothic" panose="020B0502020202020204" pitchFamily="34" charset="0"/>
              </a:rPr>
              <a:t> par </a:t>
            </a:r>
            <a:r>
              <a:rPr lang="en-GB" dirty="0" err="1">
                <a:latin typeface="Century Gothic" panose="020B0502020202020204" pitchFamily="34" charset="0"/>
              </a:rPr>
              <a:t>kolumner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dirty="0" err="1">
                <a:latin typeface="Century Gothic" panose="020B0502020202020204" pitchFamily="34" charset="0"/>
              </a:rPr>
              <a:t>omvandlat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alla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värden</a:t>
            </a:r>
            <a:r>
              <a:rPr lang="en-GB" dirty="0">
                <a:latin typeface="Century Gothic" panose="020B0502020202020204" pitchFamily="34" charset="0"/>
              </a:rPr>
              <a:t> till </a:t>
            </a:r>
            <a:r>
              <a:rPr lang="en-GB" dirty="0" err="1">
                <a:latin typeface="Century Gothic" panose="020B0502020202020204" pitchFamily="34" charset="0"/>
              </a:rPr>
              <a:t>siffror</a:t>
            </a:r>
            <a:r>
              <a:rPr lang="en-GB" dirty="0">
                <a:latin typeface="Century Gothic" panose="020B0502020202020204" pitchFamily="34" charset="0"/>
              </a:rPr>
              <a:t> (float)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dirty="0" err="1">
                <a:latin typeface="Century Gothic" panose="020B0502020202020204" pitchFamily="34" charset="0"/>
              </a:rPr>
              <a:t>hanterat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kategoriska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kolumner</a:t>
            </a:r>
            <a:endParaRPr lang="en-GB" dirty="0">
              <a:latin typeface="Century Gothic" panose="020B0502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dirty="0" err="1">
                <a:latin typeface="Century Gothic" panose="020B0502020202020204" pitchFamily="34" charset="0"/>
              </a:rPr>
              <a:t>normaliserat</a:t>
            </a:r>
            <a:r>
              <a:rPr lang="en-GB" dirty="0">
                <a:latin typeface="Century Gothic" panose="020B0502020202020204" pitchFamily="34" charset="0"/>
              </a:rPr>
              <a:t> (</a:t>
            </a:r>
            <a:r>
              <a:rPr lang="en-GB" dirty="0" err="1">
                <a:latin typeface="Century Gothic" panose="020B0502020202020204" pitchFamily="34" charset="0"/>
              </a:rPr>
              <a:t>alla</a:t>
            </a:r>
            <a:r>
              <a:rPr lang="en-GB" dirty="0">
                <a:latin typeface="Century Gothic" panose="020B0502020202020204" pitchFamily="34" charset="0"/>
              </a:rPr>
              <a:t> float till </a:t>
            </a:r>
            <a:r>
              <a:rPr lang="en-GB" dirty="0" err="1">
                <a:latin typeface="Century Gothic" panose="020B0502020202020204" pitchFamily="34" charset="0"/>
              </a:rPr>
              <a:t>mellan</a:t>
            </a:r>
            <a:r>
              <a:rPr lang="en-GB" dirty="0">
                <a:latin typeface="Century Gothic" panose="020B0502020202020204" pitchFamily="34" charset="0"/>
              </a:rPr>
              <a:t> [0,1]) </a:t>
            </a:r>
            <a:endParaRPr lang="en-SE" dirty="0"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Samtliga</a:t>
            </a:r>
            <a:r>
              <a:rPr kumimoji="0" lang="en-GB" altLang="en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steg är </a:t>
            </a:r>
            <a:r>
              <a:rPr kumimoji="0" lang="en-GB" altLang="en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tydligt</a:t>
            </a:r>
            <a:r>
              <a:rPr kumimoji="0" lang="en-GB" altLang="en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GB" altLang="en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förklarade</a:t>
            </a:r>
            <a:r>
              <a:rPr kumimoji="0" lang="en-GB" altLang="en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i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notebook:en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ni</a:t>
            </a:r>
            <a:r>
              <a:rPr lang="en-GB" altLang="en-SE" b="1" dirty="0">
                <a:latin typeface="Century Gothic" panose="020B0502020202020204" pitchFamily="34" charset="0"/>
              </a:rPr>
              <a:t> kommer </a:t>
            </a:r>
            <a:r>
              <a:rPr lang="en-GB" altLang="en-SE" b="1" dirty="0" err="1">
                <a:latin typeface="Century Gothic" panose="020B0502020202020204" pitchFamily="34" charset="0"/>
              </a:rPr>
              <a:t>få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jobba</a:t>
            </a:r>
            <a:r>
              <a:rPr lang="en-GB" altLang="en-SE" b="1" dirty="0">
                <a:latin typeface="Century Gothic" panose="020B0502020202020204" pitchFamily="34" charset="0"/>
              </a:rPr>
              <a:t> med!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S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SE" b="1" dirty="0">
                <a:latin typeface="Century Gothic" panose="020B0502020202020204" pitchFamily="34" charset="0"/>
              </a:rPr>
              <a:t>Som </a:t>
            </a:r>
            <a:r>
              <a:rPr lang="en-GB" altLang="en-SE" b="1" dirty="0" err="1">
                <a:latin typeface="Century Gothic" panose="020B0502020202020204" pitchFamily="34" charset="0"/>
              </a:rPr>
              <a:t>vanligt</a:t>
            </a:r>
            <a:r>
              <a:rPr lang="en-GB" altLang="en-SE" b="1" dirty="0">
                <a:latin typeface="Century Gothic" panose="020B0502020202020204" pitchFamily="34" charset="0"/>
              </a:rPr>
              <a:t>, </a:t>
            </a:r>
            <a:r>
              <a:rPr lang="en-GB" altLang="en-SE" b="1" dirty="0" err="1">
                <a:latin typeface="Century Gothic" panose="020B0502020202020204" pitchFamily="34" charset="0"/>
              </a:rPr>
              <a:t>gå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igenom</a:t>
            </a:r>
            <a:r>
              <a:rPr lang="en-GB" altLang="en-SE" b="1" dirty="0">
                <a:latin typeface="Century Gothic" panose="020B0502020202020204" pitchFamily="34" charset="0"/>
              </a:rPr>
              <a:t> och </a:t>
            </a:r>
            <a:r>
              <a:rPr lang="en-GB" altLang="en-SE" b="1" dirty="0" err="1">
                <a:latin typeface="Century Gothic" panose="020B0502020202020204" pitchFamily="34" charset="0"/>
              </a:rPr>
              <a:t>säkerställ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att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ni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förstår</a:t>
            </a:r>
            <a:r>
              <a:rPr lang="en-GB" altLang="en-SE" b="1" dirty="0">
                <a:latin typeface="Century Gothic" panose="020B0502020202020204" pitchFamily="34" charset="0"/>
              </a:rPr>
              <a:t> </a:t>
            </a:r>
            <a:r>
              <a:rPr lang="en-GB" altLang="en-SE" b="1" dirty="0" err="1">
                <a:latin typeface="Century Gothic" panose="020B0502020202020204" pitchFamily="34" charset="0"/>
              </a:rPr>
              <a:t>vad</a:t>
            </a:r>
            <a:r>
              <a:rPr lang="en-GB" altLang="en-SE" b="1" dirty="0">
                <a:latin typeface="Century Gothic" panose="020B0502020202020204" pitchFamily="34" charset="0"/>
              </a:rPr>
              <a:t> vi </a:t>
            </a:r>
            <a:r>
              <a:rPr lang="en-GB" altLang="en-SE" b="1" dirty="0" err="1">
                <a:latin typeface="Century Gothic" panose="020B0502020202020204" pitchFamily="34" charset="0"/>
              </a:rPr>
              <a:t>gör</a:t>
            </a:r>
            <a:r>
              <a:rPr lang="en-GB" altLang="en-SE" b="1" dirty="0">
                <a:latin typeface="Century Gothic" panose="020B0502020202020204" pitchFamily="34" charset="0"/>
              </a:rPr>
              <a:t>.</a:t>
            </a:r>
            <a:endParaRPr kumimoji="0" lang="en-SE" altLang="en-S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5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2830224" y="2759627"/>
            <a:ext cx="38237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Ta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fram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och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förbered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träningsdata</a:t>
            </a:r>
            <a:endParaRPr lang="en-US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Välj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lämplig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loss-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funktion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(MAE för regression).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Skapa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modell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PyTorch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Neuron den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här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gången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Träna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modellen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355066" y="107608"/>
            <a:ext cx="3481865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 err="1">
                <a:latin typeface="Century Gothic" panose="020B0502020202020204" pitchFamily="34" charset="0"/>
              </a:rPr>
              <a:t>Dagens</a:t>
            </a:r>
            <a:r>
              <a:rPr lang="en-GB" altLang="en-SE" sz="3200" dirty="0">
                <a:latin typeface="Century Gothic" panose="020B0502020202020204" pitchFamily="34" charset="0"/>
              </a:rPr>
              <a:t> </a:t>
            </a:r>
            <a:r>
              <a:rPr lang="en-GB" altLang="en-SE" sz="3200" dirty="0" err="1">
                <a:latin typeface="Century Gothic" panose="020B0502020202020204" pitchFamily="34" charset="0"/>
              </a:rPr>
              <a:t>målbild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528E459-2A2B-DB15-2926-5AB6253C08A2}"/>
              </a:ext>
            </a:extLst>
          </p:cNvPr>
          <p:cNvCxnSpPr>
            <a:cxnSpLocks/>
          </p:cNvCxnSpPr>
          <p:nvPr/>
        </p:nvCxnSpPr>
        <p:spPr>
          <a:xfrm flipH="1">
            <a:off x="7043484" y="3886203"/>
            <a:ext cx="1889098" cy="0"/>
          </a:xfrm>
          <a:prstGeom prst="straightConnector1">
            <a:avLst/>
          </a:prstGeom>
          <a:ln w="38100">
            <a:solidFill>
              <a:srgbClr val="14B6F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39051F78-8221-DF47-230D-5424116BB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2433" y="2717800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09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751399" y="73741"/>
            <a:ext cx="26892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Loss function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D0538-A9C3-8992-89AC-A46C18F1F6DC}"/>
              </a:ext>
            </a:extLst>
          </p:cNvPr>
          <p:cNvSpPr txBox="1"/>
          <p:nvPr/>
        </p:nvSpPr>
        <p:spPr>
          <a:xfrm>
            <a:off x="460917" y="1343481"/>
            <a:ext cx="6693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entury Gothic" panose="020B0502020202020204" pitchFamily="34" charset="0"/>
              </a:rPr>
              <a:t>Det är </a:t>
            </a:r>
            <a:r>
              <a:rPr lang="en-GB" dirty="0" err="1">
                <a:latin typeface="Century Gothic" panose="020B0502020202020204" pitchFamily="34" charset="0"/>
              </a:rPr>
              <a:t>bokstavligen</a:t>
            </a:r>
            <a:r>
              <a:rPr lang="en-GB" dirty="0">
                <a:latin typeface="Century Gothic" panose="020B0502020202020204" pitchFamily="34" charset="0"/>
              </a:rPr>
              <a:t> en rad </a:t>
            </a:r>
            <a:r>
              <a:rPr lang="en-GB" dirty="0" err="1">
                <a:latin typeface="Century Gothic" panose="020B0502020202020204" pitchFamily="34" charset="0"/>
              </a:rPr>
              <a:t>kod</a:t>
            </a:r>
            <a:r>
              <a:rPr lang="en-GB" dirty="0">
                <a:latin typeface="Century Gothic" panose="020B0502020202020204" pitchFamily="34" charset="0"/>
              </a:rPr>
              <a:t>… vi </a:t>
            </a:r>
            <a:r>
              <a:rPr lang="en-GB" dirty="0" err="1">
                <a:latin typeface="Century Gothic" panose="020B0502020202020204" pitchFamily="34" charset="0"/>
              </a:rPr>
              <a:t>väljer</a:t>
            </a:r>
            <a:r>
              <a:rPr lang="en-GB" dirty="0">
                <a:latin typeface="Century Gothic" panose="020B0502020202020204" pitchFamily="34" charset="0"/>
              </a:rPr>
              <a:t> den direct via </a:t>
            </a:r>
            <a:r>
              <a:rPr lang="en-GB" dirty="0" err="1">
                <a:latin typeface="Century Gothic" panose="020B0502020202020204" pitchFamily="34" charset="0"/>
              </a:rPr>
              <a:t>PyTorch</a:t>
            </a:r>
            <a:r>
              <a:rPr lang="en-GB" dirty="0">
                <a:latin typeface="Century Gothic" panose="020B0502020202020204" pitchFamily="34" charset="0"/>
              </a:rPr>
              <a:t> – </a:t>
            </a:r>
            <a:r>
              <a:rPr lang="en-GB" dirty="0" err="1">
                <a:latin typeface="Century Gothic" panose="020B0502020202020204" pitchFamily="34" charset="0"/>
              </a:rPr>
              <a:t>då</a:t>
            </a:r>
            <a:r>
              <a:rPr lang="en-GB" dirty="0">
                <a:latin typeface="Century Gothic" panose="020B0502020202020204" pitchFamily="34" charset="0"/>
              </a:rPr>
              <a:t> de </a:t>
            </a:r>
            <a:r>
              <a:rPr lang="en-GB" dirty="0" err="1">
                <a:latin typeface="Century Gothic" panose="020B0502020202020204" pitchFamily="34" charset="0"/>
              </a:rPr>
              <a:t>vanligaste</a:t>
            </a:r>
            <a:r>
              <a:rPr lang="en-GB" dirty="0">
                <a:latin typeface="Century Gothic" panose="020B0502020202020204" pitchFamily="34" charset="0"/>
              </a:rPr>
              <a:t> losses redan är </a:t>
            </a:r>
            <a:r>
              <a:rPr lang="en-GB" dirty="0" err="1">
                <a:latin typeface="Century Gothic" panose="020B0502020202020204" pitchFamily="34" charset="0"/>
              </a:rPr>
              <a:t>definierade</a:t>
            </a:r>
            <a:r>
              <a:rPr lang="en-GB" dirty="0">
                <a:latin typeface="Century Gothic" panose="020B0502020202020204" pitchFamily="34" charset="0"/>
              </a:rPr>
              <a:t> där</a:t>
            </a:r>
            <a:endParaRPr lang="en-SE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310BB-C244-7F47-CD26-B5D52D953345}"/>
              </a:ext>
            </a:extLst>
          </p:cNvPr>
          <p:cNvSpPr txBox="1"/>
          <p:nvPr/>
        </p:nvSpPr>
        <p:spPr>
          <a:xfrm>
            <a:off x="2355590" y="3815258"/>
            <a:ext cx="7480817" cy="120032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Century Gothic" panose="020B0502020202020204" pitchFamily="34" charset="0"/>
              </a:rPr>
              <a:t>Vi </a:t>
            </a:r>
            <a:r>
              <a:rPr lang="en-GB" dirty="0" err="1">
                <a:latin typeface="Century Gothic" panose="020B0502020202020204" pitchFamily="34" charset="0"/>
              </a:rPr>
              <a:t>väljer</a:t>
            </a:r>
            <a:r>
              <a:rPr lang="en-GB" dirty="0">
                <a:latin typeface="Century Gothic" panose="020B0502020202020204" pitchFamily="34" charset="0"/>
              </a:rPr>
              <a:t> här Mean Absolute Error (MAE) loss function </a:t>
            </a:r>
            <a:r>
              <a:rPr lang="en-GB" dirty="0" err="1">
                <a:latin typeface="Century Gothic" panose="020B0502020202020204" pitchFamily="34" charset="0"/>
              </a:rPr>
              <a:t>eftersom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att</a:t>
            </a:r>
            <a:r>
              <a:rPr lang="en-GB" dirty="0">
                <a:latin typeface="Century Gothic" panose="020B0502020202020204" pitchFamily="34" charset="0"/>
              </a:rPr>
              <a:t> vi ska </a:t>
            </a:r>
            <a:r>
              <a:rPr lang="en-GB" dirty="0" err="1">
                <a:latin typeface="Century Gothic" panose="020B0502020202020204" pitchFamily="34" charset="0"/>
              </a:rPr>
              <a:t>köra</a:t>
            </a:r>
            <a:r>
              <a:rPr lang="en-GB" dirty="0">
                <a:latin typeface="Century Gothic" panose="020B0502020202020204" pitchFamily="34" charset="0"/>
              </a:rPr>
              <a:t> regression, och det är en bra </a:t>
            </a:r>
            <a:r>
              <a:rPr lang="en-GB" dirty="0" err="1">
                <a:latin typeface="Century Gothic" panose="020B0502020202020204" pitchFamily="34" charset="0"/>
              </a:rPr>
              <a:t>funktion</a:t>
            </a:r>
            <a:r>
              <a:rPr lang="en-GB" dirty="0">
                <a:latin typeface="Century Gothic" panose="020B0502020202020204" pitchFamily="34" charset="0"/>
              </a:rPr>
              <a:t> för </a:t>
            </a:r>
            <a:r>
              <a:rPr lang="en-GB" dirty="0" err="1">
                <a:latin typeface="Century Gothic" panose="020B0502020202020204" pitchFamily="34" charset="0"/>
              </a:rPr>
              <a:t>ändamålet</a:t>
            </a:r>
            <a:r>
              <a:rPr lang="en-GB" dirty="0">
                <a:latin typeface="Century Gothic" panose="020B0502020202020204" pitchFamily="34" charset="0"/>
              </a:rPr>
              <a:t>.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pPr algn="ctr"/>
            <a:r>
              <a:rPr lang="en-GB" b="1" dirty="0">
                <a:latin typeface="Century Gothic" panose="020B0502020202020204" pitchFamily="34" charset="0"/>
              </a:rPr>
              <a:t>OBS! L1 är bara </a:t>
            </a:r>
            <a:r>
              <a:rPr lang="en-GB" b="1" dirty="0" err="1">
                <a:latin typeface="Century Gothic" panose="020B0502020202020204" pitchFamily="34" charset="0"/>
              </a:rPr>
              <a:t>ett</a:t>
            </a:r>
            <a:r>
              <a:rPr lang="en-GB" b="1" dirty="0">
                <a:latin typeface="Century Gothic" panose="020B0502020202020204" pitchFamily="34" charset="0"/>
              </a:rPr>
              <a:t> annat </a:t>
            </a:r>
            <a:r>
              <a:rPr lang="en-GB" b="1" dirty="0" err="1">
                <a:latin typeface="Century Gothic" panose="020B0502020202020204" pitchFamily="34" charset="0"/>
              </a:rPr>
              <a:t>namn</a:t>
            </a:r>
            <a:r>
              <a:rPr lang="en-GB" b="1" dirty="0">
                <a:latin typeface="Century Gothic" panose="020B0502020202020204" pitchFamily="34" charset="0"/>
              </a:rPr>
              <a:t> för MAE</a:t>
            </a:r>
            <a:endParaRPr lang="en-SE" b="1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85264B-1DE7-9B93-CA46-A7E50AFCE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24" y="2598002"/>
            <a:ext cx="42195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38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751399" y="73741"/>
            <a:ext cx="26892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>
                <a:latin typeface="Century Gothic" panose="020B0502020202020204" pitchFamily="34" charset="0"/>
              </a:rPr>
              <a:t>Loss function</a:t>
            </a:r>
            <a:endParaRPr lang="en-GB" altLang="en-SE" sz="1600">
              <a:latin typeface="Century Gothic" panose="020B0502020202020204" pitchFamily="34" charset="0"/>
            </a:endParaRPr>
          </a:p>
          <a:p>
            <a:r>
              <a:rPr lang="en-GB" altLang="en-SE" sz="160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310BB-C244-7F47-CD26-B5D52D953345}"/>
              </a:ext>
            </a:extLst>
          </p:cNvPr>
          <p:cNvSpPr txBox="1"/>
          <p:nvPr/>
        </p:nvSpPr>
        <p:spPr>
          <a:xfrm>
            <a:off x="459055" y="1342990"/>
            <a:ext cx="6772603" cy="341632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Century Gothic" panose="020B0502020202020204" pitchFamily="34" charset="0"/>
              </a:rPr>
              <a:t>Kom </a:t>
            </a:r>
            <a:r>
              <a:rPr lang="en-GB" dirty="0" err="1">
                <a:latin typeface="Century Gothic" panose="020B0502020202020204" pitchFamily="34" charset="0"/>
              </a:rPr>
              <a:t>ihåg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att</a:t>
            </a:r>
            <a:r>
              <a:rPr lang="en-GB" dirty="0">
                <a:latin typeface="Century Gothic" panose="020B0502020202020204" pitchFamily="34" charset="0"/>
              </a:rPr>
              <a:t> MAE är </a:t>
            </a:r>
            <a:r>
              <a:rPr lang="en-GB" dirty="0" err="1">
                <a:latin typeface="Century Gothic" panose="020B0502020202020204" pitchFamily="34" charset="0"/>
              </a:rPr>
              <a:t>ett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mått</a:t>
            </a:r>
            <a:r>
              <a:rPr lang="en-GB" dirty="0">
                <a:latin typeface="Century Gothic" panose="020B0502020202020204" pitchFamily="34" charset="0"/>
              </a:rPr>
              <a:t> på </a:t>
            </a:r>
            <a:r>
              <a:rPr lang="en-GB" dirty="0" err="1">
                <a:latin typeface="Century Gothic" panose="020B0502020202020204" pitchFamily="34" charset="0"/>
              </a:rPr>
              <a:t>avståndet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mellan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vår</a:t>
            </a:r>
            <a:r>
              <a:rPr lang="en-GB" dirty="0">
                <a:latin typeface="Century Gothic" panose="020B0502020202020204" pitchFamily="34" charset="0"/>
              </a:rPr>
              <a:t> models </a:t>
            </a:r>
            <a:r>
              <a:rPr lang="en-GB" dirty="0" err="1">
                <a:latin typeface="Century Gothic" panose="020B0502020202020204" pitchFamily="34" charset="0"/>
              </a:rPr>
              <a:t>prediktions</a:t>
            </a:r>
            <a:r>
              <a:rPr lang="en-GB" dirty="0">
                <a:latin typeface="Century Gothic" panose="020B0502020202020204" pitchFamily="34" charset="0"/>
              </a:rPr>
              <a:t> (</a:t>
            </a:r>
            <a:r>
              <a:rPr lang="en-GB" dirty="0" err="1">
                <a:latin typeface="Century Gothic" panose="020B0502020202020204" pitchFamily="34" charset="0"/>
              </a:rPr>
              <a:t>y_pred</a:t>
            </a:r>
            <a:r>
              <a:rPr lang="en-GB" dirty="0">
                <a:latin typeface="Century Gothic" panose="020B0502020202020204" pitchFamily="34" charset="0"/>
              </a:rPr>
              <a:t>), och de </a:t>
            </a:r>
            <a:r>
              <a:rPr lang="en-GB" dirty="0" err="1">
                <a:latin typeface="Century Gothic" panose="020B0502020202020204" pitchFamily="34" charset="0"/>
              </a:rPr>
              <a:t>sanna</a:t>
            </a:r>
            <a:r>
              <a:rPr lang="en-GB" dirty="0">
                <a:latin typeface="Century Gothic" panose="020B0502020202020204" pitchFamily="34" charset="0"/>
              </a:rPr>
              <a:t> targets (</a:t>
            </a:r>
            <a:r>
              <a:rPr lang="en-GB" dirty="0" err="1">
                <a:latin typeface="Century Gothic" panose="020B0502020202020204" pitchFamily="34" charset="0"/>
              </a:rPr>
              <a:t>y_true</a:t>
            </a:r>
            <a:r>
              <a:rPr lang="en-GB" dirty="0">
                <a:latin typeface="Century Gothic" panose="020B0502020202020204" pitchFamily="34" charset="0"/>
              </a:rPr>
              <a:t>).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>
                <a:latin typeface="Century Gothic" panose="020B0502020202020204" pitchFamily="34" charset="0"/>
              </a:rPr>
              <a:t>MAE </a:t>
            </a:r>
            <a:r>
              <a:rPr lang="en-GB" dirty="0" err="1">
                <a:latin typeface="Century Gothic" panose="020B0502020202020204" pitchFamily="34" charset="0"/>
              </a:rPr>
              <a:t>kan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också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direkt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tolkas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som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medelfelet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av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vår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modell</a:t>
            </a:r>
            <a:r>
              <a:rPr lang="en-GB" dirty="0">
                <a:latin typeface="Century Gothic" panose="020B0502020202020204" pitchFamily="34" charset="0"/>
              </a:rPr>
              <a:t>.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>
                <a:latin typeface="Century Gothic" panose="020B0502020202020204" pitchFamily="34" charset="0"/>
              </a:rPr>
              <a:t>En </a:t>
            </a:r>
            <a:r>
              <a:rPr lang="en-GB" dirty="0" err="1">
                <a:latin typeface="Century Gothic" panose="020B0502020202020204" pitchFamily="34" charset="0"/>
              </a:rPr>
              <a:t>mindre</a:t>
            </a:r>
            <a:r>
              <a:rPr lang="en-GB" dirty="0">
                <a:latin typeface="Century Gothic" panose="020B0502020202020204" pitchFamily="34" charset="0"/>
              </a:rPr>
              <a:t> MAE är </a:t>
            </a:r>
            <a:r>
              <a:rPr lang="en-GB" dirty="0" err="1">
                <a:latin typeface="Century Gothic" panose="020B0502020202020204" pitchFamily="34" charset="0"/>
              </a:rPr>
              <a:t>därför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också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ett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direkt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mått</a:t>
            </a:r>
            <a:r>
              <a:rPr lang="en-GB" dirty="0">
                <a:latin typeface="Century Gothic" panose="020B0502020202020204" pitchFamily="34" charset="0"/>
              </a:rPr>
              <a:t> på </a:t>
            </a:r>
            <a:r>
              <a:rPr lang="en-GB" dirty="0" err="1">
                <a:latin typeface="Century Gothic" panose="020B0502020202020204" pitchFamily="34" charset="0"/>
              </a:rPr>
              <a:t>hur</a:t>
            </a:r>
            <a:r>
              <a:rPr lang="en-GB" dirty="0">
                <a:latin typeface="Century Gothic" panose="020B0502020202020204" pitchFamily="34" charset="0"/>
              </a:rPr>
              <a:t> bra </a:t>
            </a:r>
            <a:r>
              <a:rPr lang="en-GB" dirty="0" err="1">
                <a:latin typeface="Century Gothic" panose="020B0502020202020204" pitchFamily="34" charset="0"/>
              </a:rPr>
              <a:t>vår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modell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presterar</a:t>
            </a:r>
            <a:r>
              <a:rPr lang="en-GB" dirty="0">
                <a:latin typeface="Century Gothic" panose="020B0502020202020204" pitchFamily="34" charset="0"/>
              </a:rPr>
              <a:t> på </a:t>
            </a:r>
            <a:r>
              <a:rPr lang="en-GB" dirty="0" err="1">
                <a:latin typeface="Century Gothic" panose="020B0502020202020204" pitchFamily="34" charset="0"/>
              </a:rPr>
              <a:t>vårt</a:t>
            </a:r>
            <a:r>
              <a:rPr lang="en-GB" dirty="0">
                <a:latin typeface="Century Gothic" panose="020B0502020202020204" pitchFamily="34" charset="0"/>
              </a:rPr>
              <a:t> dataset.</a:t>
            </a:r>
          </a:p>
          <a:p>
            <a:endParaRPr lang="en-GB" b="1" dirty="0">
              <a:latin typeface="Century Gothic" panose="020B0502020202020204" pitchFamily="34" charset="0"/>
            </a:endParaRPr>
          </a:p>
          <a:p>
            <a:r>
              <a:rPr lang="en-GB" b="1" dirty="0" err="1">
                <a:latin typeface="Century Gothic" panose="020B0502020202020204" pitchFamily="34" charset="0"/>
              </a:rPr>
              <a:t>Målet</a:t>
            </a:r>
            <a:r>
              <a:rPr lang="en-GB" b="1" dirty="0">
                <a:latin typeface="Century Gothic" panose="020B0502020202020204" pitchFamily="34" charset="0"/>
              </a:rPr>
              <a:t> med </a:t>
            </a:r>
            <a:r>
              <a:rPr lang="en-GB" b="1" dirty="0" err="1">
                <a:latin typeface="Century Gothic" panose="020B0502020202020204" pitchFamily="34" charset="0"/>
              </a:rPr>
              <a:t>träningen</a:t>
            </a:r>
            <a:r>
              <a:rPr lang="en-GB" b="1" dirty="0">
                <a:latin typeface="Century Gothic" panose="020B0502020202020204" pitchFamily="34" charset="0"/>
              </a:rPr>
              <a:t> </a:t>
            </a:r>
            <a:r>
              <a:rPr lang="en-GB" b="1" dirty="0" err="1">
                <a:latin typeface="Century Gothic" panose="020B0502020202020204" pitchFamily="34" charset="0"/>
              </a:rPr>
              <a:t>blir</a:t>
            </a:r>
            <a:r>
              <a:rPr lang="en-GB" b="1" dirty="0">
                <a:latin typeface="Century Gothic" panose="020B0502020202020204" pitchFamily="34" charset="0"/>
              </a:rPr>
              <a:t> </a:t>
            </a:r>
            <a:r>
              <a:rPr lang="en-GB" b="1" dirty="0" err="1">
                <a:latin typeface="Century Gothic" panose="020B0502020202020204" pitchFamily="34" charset="0"/>
              </a:rPr>
              <a:t>därför</a:t>
            </a:r>
            <a:r>
              <a:rPr lang="en-GB" b="1" dirty="0">
                <a:latin typeface="Century Gothic" panose="020B0502020202020204" pitchFamily="34" charset="0"/>
              </a:rPr>
              <a:t> </a:t>
            </a:r>
            <a:r>
              <a:rPr lang="en-GB" b="1" dirty="0" err="1">
                <a:latin typeface="Century Gothic" panose="020B0502020202020204" pitchFamily="34" charset="0"/>
              </a:rPr>
              <a:t>att</a:t>
            </a:r>
            <a:r>
              <a:rPr lang="en-GB" b="1" dirty="0">
                <a:latin typeface="Century Gothic" panose="020B0502020202020204" pitchFamily="34" charset="0"/>
              </a:rPr>
              <a:t> </a:t>
            </a:r>
            <a:r>
              <a:rPr lang="en-GB" b="1" dirty="0" err="1">
                <a:latin typeface="Century Gothic" panose="020B0502020202020204" pitchFamily="34" charset="0"/>
              </a:rPr>
              <a:t>minimera</a:t>
            </a:r>
            <a:r>
              <a:rPr lang="en-GB" b="1" dirty="0">
                <a:latin typeface="Century Gothic" panose="020B0502020202020204" pitchFamily="34" charset="0"/>
              </a:rPr>
              <a:t> </a:t>
            </a:r>
            <a:r>
              <a:rPr lang="en-GB" b="1" dirty="0" err="1">
                <a:latin typeface="Century Gothic" panose="020B0502020202020204" pitchFamily="34" charset="0"/>
              </a:rPr>
              <a:t>denna</a:t>
            </a:r>
            <a:r>
              <a:rPr lang="en-GB" b="1" dirty="0">
                <a:latin typeface="Century Gothic" panose="020B0502020202020204" pitchFamily="34" charset="0"/>
              </a:rPr>
              <a:t> loss! 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 err="1">
                <a:latin typeface="Century Gothic" panose="020B0502020202020204" pitchFamily="34" charset="0"/>
              </a:rPr>
              <a:t>När</a:t>
            </a:r>
            <a:r>
              <a:rPr lang="en-GB" dirty="0">
                <a:latin typeface="Century Gothic" panose="020B0502020202020204" pitchFamily="34" charset="0"/>
              </a:rPr>
              <a:t> vi </a:t>
            </a:r>
            <a:r>
              <a:rPr lang="en-GB" dirty="0" err="1">
                <a:latin typeface="Century Gothic" panose="020B0502020202020204" pitchFamily="34" charset="0"/>
              </a:rPr>
              <a:t>fått</a:t>
            </a:r>
            <a:r>
              <a:rPr lang="en-GB" dirty="0">
                <a:latin typeface="Century Gothic" panose="020B0502020202020204" pitchFamily="34" charset="0"/>
              </a:rPr>
              <a:t> så </a:t>
            </a:r>
            <a:r>
              <a:rPr lang="en-GB" dirty="0" err="1">
                <a:latin typeface="Century Gothic" panose="020B0502020202020204" pitchFamily="34" charset="0"/>
              </a:rPr>
              <a:t>liten</a:t>
            </a:r>
            <a:r>
              <a:rPr lang="en-GB" dirty="0">
                <a:latin typeface="Century Gothic" panose="020B0502020202020204" pitchFamily="34" charset="0"/>
              </a:rPr>
              <a:t> loss </a:t>
            </a:r>
            <a:r>
              <a:rPr lang="en-GB" dirty="0" err="1">
                <a:latin typeface="Century Gothic" panose="020B0502020202020204" pitchFamily="34" charset="0"/>
              </a:rPr>
              <a:t>som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möjligt</a:t>
            </a:r>
            <a:r>
              <a:rPr lang="en-GB" dirty="0">
                <a:latin typeface="Century Gothic" panose="020B0502020202020204" pitchFamily="34" charset="0"/>
              </a:rPr>
              <a:t>, </a:t>
            </a:r>
            <a:r>
              <a:rPr lang="en-GB" dirty="0" err="1">
                <a:latin typeface="Century Gothic" panose="020B0502020202020204" pitchFamily="34" charset="0"/>
              </a:rPr>
              <a:t>anses</a:t>
            </a:r>
            <a:r>
              <a:rPr lang="en-GB" dirty="0">
                <a:latin typeface="Century Gothic" panose="020B0502020202020204" pitchFamily="34" charset="0"/>
              </a:rPr>
              <a:t> vi </a:t>
            </a:r>
            <a:r>
              <a:rPr lang="en-GB" dirty="0" err="1">
                <a:latin typeface="Century Gothic" panose="020B0502020202020204" pitchFamily="34" charset="0"/>
              </a:rPr>
              <a:t>också</a:t>
            </a:r>
            <a:r>
              <a:rPr lang="en-GB" dirty="0">
                <a:latin typeface="Century Gothic" panose="020B0502020202020204" pitchFamily="34" charset="0"/>
              </a:rPr>
              <a:t> ha den </a:t>
            </a:r>
            <a:r>
              <a:rPr lang="en-GB" dirty="0" err="1">
                <a:latin typeface="Century Gothic" panose="020B0502020202020204" pitchFamily="34" charset="0"/>
              </a:rPr>
              <a:t>bäst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presterande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  <a:r>
              <a:rPr lang="en-GB" dirty="0" err="1">
                <a:latin typeface="Century Gothic" panose="020B0502020202020204" pitchFamily="34" charset="0"/>
              </a:rPr>
              <a:t>modellen</a:t>
            </a:r>
            <a:r>
              <a:rPr lang="en-GB" dirty="0">
                <a:latin typeface="Century Gothic" panose="020B0502020202020204" pitchFamily="34" charset="0"/>
              </a:rPr>
              <a:t>. </a:t>
            </a:r>
            <a:endParaRPr lang="en-SE" dirty="0">
              <a:latin typeface="Century Gothic" panose="020B0502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A41E24-ACAC-9CA7-6658-7B61E15249EF}"/>
              </a:ext>
            </a:extLst>
          </p:cNvPr>
          <p:cNvGrpSpPr/>
          <p:nvPr/>
        </p:nvGrpSpPr>
        <p:grpSpPr>
          <a:xfrm>
            <a:off x="7231659" y="1254196"/>
            <a:ext cx="4574316" cy="3478671"/>
            <a:chOff x="8143670" y="1516662"/>
            <a:chExt cx="3450637" cy="2624137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614D174-9AB9-5D5F-03A3-A091DA1AE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3670" y="1516662"/>
              <a:ext cx="3450637" cy="2624137"/>
            </a:xfrm>
            <a:prstGeom prst="rect">
              <a:avLst/>
            </a:prstGeom>
          </p:spPr>
        </p:pic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0B0FC8B-0C69-30CB-3979-259B41BCDF45}"/>
                </a:ext>
              </a:extLst>
            </p:cNvPr>
            <p:cNvCxnSpPr/>
            <p:nvPr/>
          </p:nvCxnSpPr>
          <p:spPr>
            <a:xfrm>
              <a:off x="10478879" y="2061696"/>
              <a:ext cx="0" cy="3238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C09ED5-AD7A-EEF3-FDF1-3A3BB7158EA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679" y="2189754"/>
              <a:ext cx="0" cy="3439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453C988-EF4F-31B7-49E4-19F718E9AA8C}"/>
                </a:ext>
              </a:extLst>
            </p:cNvPr>
            <p:cNvCxnSpPr>
              <a:cxnSpLocks/>
            </p:cNvCxnSpPr>
            <p:nvPr/>
          </p:nvCxnSpPr>
          <p:spPr>
            <a:xfrm>
              <a:off x="11098004" y="1678099"/>
              <a:ext cx="0" cy="27035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8547DB-CB55-909E-C902-F01F455DD0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804" y="1754829"/>
              <a:ext cx="0" cy="1015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0015CFC-E401-0034-29FD-D61618AD099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7729" y="2615204"/>
              <a:ext cx="0" cy="2349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8D4F97-099B-EC79-F3EC-E3CD6E67C532}"/>
                </a:ext>
              </a:extLst>
            </p:cNvPr>
            <p:cNvCxnSpPr>
              <a:cxnSpLocks/>
            </p:cNvCxnSpPr>
            <p:nvPr/>
          </p:nvCxnSpPr>
          <p:spPr>
            <a:xfrm>
              <a:off x="9850229" y="2822926"/>
              <a:ext cx="0" cy="5445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11BED20-886D-88BD-EC74-497D41A5A44C}"/>
                </a:ext>
              </a:extLst>
            </p:cNvPr>
            <p:cNvCxnSpPr>
              <a:cxnSpLocks/>
            </p:cNvCxnSpPr>
            <p:nvPr/>
          </p:nvCxnSpPr>
          <p:spPr>
            <a:xfrm>
              <a:off x="9539079" y="3056529"/>
              <a:ext cx="0" cy="1524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2EFB55C-82BA-A43C-F854-E4459BFC59D4}"/>
                </a:ext>
              </a:extLst>
            </p:cNvPr>
            <p:cNvCxnSpPr>
              <a:cxnSpLocks/>
            </p:cNvCxnSpPr>
            <p:nvPr/>
          </p:nvCxnSpPr>
          <p:spPr>
            <a:xfrm>
              <a:off x="9226870" y="3285129"/>
              <a:ext cx="0" cy="34232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16862D2-3B3F-A362-A2FC-8DF210347F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3604" y="3496796"/>
              <a:ext cx="0" cy="857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CB9ACE0-E9FE-6BF9-1613-26244220365F}"/>
                </a:ext>
              </a:extLst>
            </p:cNvPr>
            <p:cNvCxnSpPr>
              <a:cxnSpLocks/>
            </p:cNvCxnSpPr>
            <p:nvPr/>
          </p:nvCxnSpPr>
          <p:spPr>
            <a:xfrm>
              <a:off x="8613038" y="3699996"/>
              <a:ext cx="0" cy="3915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828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2830224" y="2759627"/>
            <a:ext cx="38237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Ta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fram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och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förbered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träningsdata</a:t>
            </a:r>
            <a:endParaRPr lang="en-US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Välj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lämplig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loss-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funktion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(MAE för regression).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Skapa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modell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PyTorch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Neuron den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här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gången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Träna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modellen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355066" y="107608"/>
            <a:ext cx="3481865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 err="1">
                <a:latin typeface="Century Gothic" panose="020B0502020202020204" pitchFamily="34" charset="0"/>
              </a:rPr>
              <a:t>Dagens</a:t>
            </a:r>
            <a:r>
              <a:rPr lang="en-GB" altLang="en-SE" sz="3200" dirty="0">
                <a:latin typeface="Century Gothic" panose="020B0502020202020204" pitchFamily="34" charset="0"/>
              </a:rPr>
              <a:t> </a:t>
            </a:r>
            <a:r>
              <a:rPr lang="en-GB" altLang="en-SE" sz="3200" dirty="0" err="1">
                <a:latin typeface="Century Gothic" panose="020B0502020202020204" pitchFamily="34" charset="0"/>
              </a:rPr>
              <a:t>målbild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528E459-2A2B-DB15-2926-5AB6253C08A2}"/>
              </a:ext>
            </a:extLst>
          </p:cNvPr>
          <p:cNvCxnSpPr>
            <a:cxnSpLocks/>
          </p:cNvCxnSpPr>
          <p:nvPr/>
        </p:nvCxnSpPr>
        <p:spPr>
          <a:xfrm flipH="1">
            <a:off x="7043484" y="4809070"/>
            <a:ext cx="1889098" cy="0"/>
          </a:xfrm>
          <a:prstGeom prst="straightConnector1">
            <a:avLst/>
          </a:prstGeom>
          <a:ln w="38100">
            <a:solidFill>
              <a:srgbClr val="BF9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39051F78-8221-DF47-230D-5424116BB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2433" y="2717800"/>
            <a:ext cx="711200" cy="711200"/>
          </a:xfrm>
          <a:prstGeom prst="rect">
            <a:avLst/>
          </a:prstGeom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6720EAA2-8018-1F26-2E52-CC46FE523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433" y="3479588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0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628890" y="1158245"/>
            <a:ext cx="59278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entury Gothic" panose="020B0502020202020204" pitchFamily="34" charset="0"/>
              </a:rPr>
              <a:t>Vårt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mål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kommer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vara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att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återskapa</a:t>
            </a:r>
            <a:r>
              <a:rPr lang="en-US" b="1" dirty="0">
                <a:latin typeface="Century Gothic" panose="020B0502020202020204" pitchFamily="34" charset="0"/>
              </a:rPr>
              <a:t> Neuron-</a:t>
            </a:r>
            <a:r>
              <a:rPr lang="en-US" b="1" dirty="0" err="1">
                <a:latin typeface="Century Gothic" panose="020B0502020202020204" pitchFamily="34" charset="0"/>
              </a:rPr>
              <a:t>modellen</a:t>
            </a:r>
            <a:r>
              <a:rPr lang="en-US" b="1" dirty="0">
                <a:latin typeface="Century Gothic" panose="020B0502020202020204" pitchFamily="34" charset="0"/>
              </a:rPr>
              <a:t> vi </a:t>
            </a:r>
            <a:r>
              <a:rPr lang="en-US" b="1" dirty="0" err="1">
                <a:latin typeface="Century Gothic" panose="020B0502020202020204" pitchFamily="34" charset="0"/>
              </a:rPr>
              <a:t>gick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igenom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förra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lektionen</a:t>
            </a:r>
            <a:r>
              <a:rPr lang="en-US" b="1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i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PyTorch</a:t>
            </a:r>
            <a:endParaRPr lang="en-US" b="1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 err="1">
                <a:latin typeface="Century Gothic" panose="020B0502020202020204" pitchFamily="34" charset="0"/>
              </a:rPr>
              <a:t>Dvs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enkel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funktion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: </a:t>
            </a:r>
            <a:br>
              <a:rPr lang="en-US" dirty="0">
                <a:latin typeface="Century Gothic" panose="020B050202020202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entury Gothic" panose="020B0502020202020204" pitchFamily="34" charset="0"/>
              </a:rPr>
              <a:t>Tar n:st inputs </a:t>
            </a:r>
            <a:r>
              <a:rPr lang="en-US" i="1" dirty="0">
                <a:latin typeface="Century Gothic" panose="020B0502020202020204" pitchFamily="34" charset="0"/>
              </a:rPr>
              <a:t>x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multiplicerar</a:t>
            </a:r>
            <a:r>
              <a:rPr lang="en-US" dirty="0">
                <a:latin typeface="Century Gothic" panose="020B0502020202020204" pitchFamily="34" charset="0"/>
              </a:rPr>
              <a:t> dessa med </a:t>
            </a:r>
            <a:r>
              <a:rPr lang="en-US" dirty="0" err="1">
                <a:latin typeface="Century Gothic" panose="020B0502020202020204" pitchFamily="34" charset="0"/>
              </a:rPr>
              <a:t>respektive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vikt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i="1" dirty="0">
                <a:latin typeface="Century Gothic" panose="020B0502020202020204" pitchFamily="34" charset="0"/>
              </a:rPr>
              <a:t>w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entury Gothic" panose="020B0502020202020204" pitchFamily="34" charset="0"/>
              </a:rPr>
              <a:t>Summerar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ihop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produkterna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ovan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entury Gothic" panose="020B0502020202020204" pitchFamily="34" charset="0"/>
              </a:rPr>
              <a:t>Adderar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även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bias </a:t>
            </a:r>
            <a:r>
              <a:rPr lang="en-US" i="1" dirty="0">
                <a:latin typeface="Century Gothic" panose="020B0502020202020204" pitchFamily="34" charset="0"/>
              </a:rPr>
              <a:t>b</a:t>
            </a:r>
            <a:r>
              <a:rPr lang="en-US" dirty="0">
                <a:latin typeface="Century Gothic" panose="020B0502020202020204" pitchFamily="34" charset="0"/>
              </a:rPr>
              <a:t> till </a:t>
            </a:r>
            <a:r>
              <a:rPr lang="en-US" dirty="0" err="1">
                <a:latin typeface="Century Gothic" panose="020B0502020202020204" pitchFamily="34" charset="0"/>
              </a:rPr>
              <a:t>summan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entury Gothic" panose="020B0502020202020204" pitchFamily="34" charset="0"/>
              </a:rPr>
              <a:t>Skickar</a:t>
            </a:r>
            <a:r>
              <a:rPr lang="en-US" dirty="0">
                <a:latin typeface="Century Gothic" panose="020B0502020202020204" pitchFamily="34" charset="0"/>
              </a:rPr>
              <a:t> sedan </a:t>
            </a:r>
            <a:r>
              <a:rPr lang="en-US" dirty="0" err="1">
                <a:latin typeface="Century Gothic" panose="020B0502020202020204" pitchFamily="34" charset="0"/>
              </a:rPr>
              <a:t>totala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summan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genom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aktiveringsfunktion</a:t>
            </a: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entury Gothic" panose="020B0502020202020204" pitchFamily="34" charset="0"/>
              </a:rPr>
              <a:t>Skickar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vidare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resultaten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output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797027-BE17-FEB7-D762-753248E5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09" y="1950028"/>
            <a:ext cx="4409402" cy="319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5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476490" y="2255616"/>
            <a:ext cx="6101486" cy="258532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Vi </a:t>
            </a:r>
            <a:r>
              <a:rPr lang="en-US" dirty="0" err="1">
                <a:latin typeface="Century Gothic" panose="020B0502020202020204" pitchFamily="34" charset="0"/>
              </a:rPr>
              <a:t>kommer</a:t>
            </a:r>
            <a:r>
              <a:rPr lang="en-US" dirty="0">
                <a:latin typeface="Century Gothic" panose="020B0502020202020204" pitchFamily="34" charset="0"/>
              </a:rPr>
              <a:t> sedan </a:t>
            </a:r>
            <a:r>
              <a:rPr lang="en-US" dirty="0" err="1">
                <a:latin typeface="Century Gothic" panose="020B0502020202020204" pitchFamily="34" charset="0"/>
              </a:rPr>
              <a:t>använda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denna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modell</a:t>
            </a:r>
            <a:r>
              <a:rPr lang="en-US" dirty="0">
                <a:latin typeface="Century Gothic" panose="020B0502020202020204" pitchFamily="34" charset="0"/>
              </a:rPr>
              <a:t> för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försöka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förutspå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studenternas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slutbetyg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Det </a:t>
            </a:r>
            <a:r>
              <a:rPr lang="en-US" dirty="0" err="1">
                <a:latin typeface="Century Gothic" panose="020B0502020202020204" pitchFamily="34" charset="0"/>
              </a:rPr>
              <a:t>kommer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åt</a:t>
            </a:r>
            <a:r>
              <a:rPr lang="en-US" dirty="0">
                <a:latin typeface="Century Gothic" panose="020B0502020202020204" pitchFamily="34" charset="0"/>
              </a:rPr>
              <a:t> h**v*te </a:t>
            </a:r>
            <a:r>
              <a:rPr lang="en-US" dirty="0" err="1">
                <a:latin typeface="Century Gothic" panose="020B0502020202020204" pitchFamily="34" charset="0"/>
              </a:rPr>
              <a:t>först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eftersom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modellens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parametrar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kommer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vara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randomiserade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Men </a:t>
            </a:r>
            <a:r>
              <a:rPr lang="en-US" dirty="0" err="1">
                <a:latin typeface="Century Gothic" panose="020B0502020202020204" pitchFamily="34" charset="0"/>
              </a:rPr>
              <a:t>efter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träning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och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successiva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iterationer</a:t>
            </a:r>
            <a:r>
              <a:rPr lang="en-US" dirty="0">
                <a:latin typeface="Century Gothic" panose="020B0502020202020204" pitchFamily="34" charset="0"/>
              </a:rPr>
              <a:t> av gradient descent – </a:t>
            </a:r>
            <a:r>
              <a:rPr lang="en-US" dirty="0" err="1">
                <a:latin typeface="Century Gothic" panose="020B0502020202020204" pitchFamily="34" charset="0"/>
              </a:rPr>
              <a:t>kommer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hitta</a:t>
            </a:r>
            <a:r>
              <a:rPr lang="en-US" dirty="0">
                <a:latin typeface="Century Gothic" panose="020B0502020202020204" pitchFamily="34" charset="0"/>
              </a:rPr>
              <a:t> bra </a:t>
            </a:r>
            <a:r>
              <a:rPr lang="en-US" dirty="0" err="1">
                <a:latin typeface="Century Gothic" panose="020B0502020202020204" pitchFamily="34" charset="0"/>
              </a:rPr>
              <a:t>parametrar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gör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presterar</a:t>
            </a:r>
            <a:r>
              <a:rPr lang="en-US" dirty="0">
                <a:latin typeface="Century Gothic" panose="020B0502020202020204" pitchFamily="34" charset="0"/>
              </a:rPr>
              <a:t> HELT OK!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797027-BE17-FEB7-D762-753248E5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09" y="1950028"/>
            <a:ext cx="4409402" cy="319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0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F3FAF-2970-6218-FB9A-67DD1610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1" y="1950071"/>
            <a:ext cx="5073848" cy="2715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5ADFE3-E1FA-9CD7-5688-E48D061F7B0D}"/>
              </a:ext>
            </a:extLst>
          </p:cNvPr>
          <p:cNvSpPr txBox="1"/>
          <p:nvPr/>
        </p:nvSpPr>
        <p:spPr>
          <a:xfrm>
            <a:off x="5725823" y="2291939"/>
            <a:ext cx="6101486" cy="2031325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Som tur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gör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PyTorch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detta</a:t>
            </a:r>
            <a:r>
              <a:rPr lang="en-US" dirty="0">
                <a:latin typeface="Century Gothic" panose="020B0502020202020204" pitchFamily="34" charset="0"/>
              </a:rPr>
              <a:t> super </a:t>
            </a:r>
            <a:r>
              <a:rPr lang="en-US" dirty="0" err="1">
                <a:latin typeface="Century Gothic" panose="020B0502020202020204" pitchFamily="34" charset="0"/>
              </a:rPr>
              <a:t>enkelt</a:t>
            </a:r>
            <a:r>
              <a:rPr lang="en-US" dirty="0">
                <a:latin typeface="Century Gothic" panose="020B0502020202020204" pitchFamily="34" charset="0"/>
              </a:rPr>
              <a:t> för </a:t>
            </a:r>
            <a:r>
              <a:rPr lang="en-US" dirty="0" err="1">
                <a:latin typeface="Century Gothic" panose="020B0502020202020204" pitchFamily="34" charset="0"/>
              </a:rPr>
              <a:t>oss</a:t>
            </a:r>
            <a:r>
              <a:rPr lang="en-US" dirty="0">
                <a:latin typeface="Century Gothic" panose="020B0502020202020204" pitchFamily="34" charset="0"/>
              </a:rPr>
              <a:t>!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I regel </a:t>
            </a:r>
            <a:r>
              <a:rPr lang="en-US" dirty="0" err="1">
                <a:latin typeface="Century Gothic" panose="020B0502020202020204" pitchFamily="34" charset="0"/>
              </a:rPr>
              <a:t>skapar</a:t>
            </a:r>
            <a:r>
              <a:rPr lang="en-US" dirty="0">
                <a:latin typeface="Century Gothic" panose="020B0502020202020204" pitchFamily="34" charset="0"/>
              </a:rPr>
              <a:t> man </a:t>
            </a:r>
            <a:r>
              <a:rPr lang="en-US" dirty="0" err="1">
                <a:latin typeface="Century Gothic" panose="020B0502020202020204" pitchFamily="34" charset="0"/>
              </a:rPr>
              <a:t>modeller</a:t>
            </a:r>
            <a:r>
              <a:rPr lang="en-US" dirty="0">
                <a:latin typeface="Century Gothic" panose="020B0502020202020204" pitchFamily="34" charset="0"/>
              </a:rPr>
              <a:t> (</a:t>
            </a:r>
            <a:r>
              <a:rPr lang="en-US" dirty="0" err="1">
                <a:latin typeface="Century Gothic" panose="020B0502020202020204" pitchFamily="34" charset="0"/>
              </a:rPr>
              <a:t>vilka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helst</a:t>
            </a:r>
            <a:r>
              <a:rPr lang="en-US" dirty="0">
                <a:latin typeface="Century Gothic" panose="020B0502020202020204" pitchFamily="34" charset="0"/>
              </a:rPr>
              <a:t>) </a:t>
            </a:r>
            <a:r>
              <a:rPr lang="en-US" dirty="0" err="1">
                <a:latin typeface="Century Gothic" panose="020B0502020202020204" pitchFamily="34" charset="0"/>
              </a:rPr>
              <a:t>genom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skapa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klasser</a:t>
            </a:r>
            <a:r>
              <a:rPr lang="en-US" dirty="0">
                <a:latin typeface="Century Gothic" panose="020B0502020202020204" pitchFamily="34" charset="0"/>
              </a:rPr>
              <a:t> – </a:t>
            </a:r>
            <a:r>
              <a:rPr lang="en-US" dirty="0" err="1">
                <a:latin typeface="Century Gothic" panose="020B0502020202020204" pitchFamily="34" charset="0"/>
              </a:rPr>
              <a:t>och</a:t>
            </a:r>
            <a:r>
              <a:rPr lang="en-US" dirty="0">
                <a:latin typeface="Century Gothic" panose="020B0502020202020204" pitchFamily="34" charset="0"/>
              </a:rPr>
              <a:t> sedan </a:t>
            </a:r>
            <a:r>
              <a:rPr lang="en-US" dirty="0" err="1">
                <a:latin typeface="Century Gothic" panose="020B0502020202020204" pitchFamily="34" charset="0"/>
              </a:rPr>
              <a:t>initierar</a:t>
            </a:r>
            <a:r>
              <a:rPr lang="en-US" dirty="0">
                <a:latin typeface="Century Gothic" panose="020B0502020202020204" pitchFamily="34" charset="0"/>
              </a:rPr>
              <a:t> man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modell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instans</a:t>
            </a:r>
            <a:r>
              <a:rPr lang="en-US" dirty="0">
                <a:latin typeface="Century Gothic" panose="020B0502020202020204" pitchFamily="34" charset="0"/>
              </a:rPr>
              <a:t> av </a:t>
            </a:r>
            <a:r>
              <a:rPr lang="en-US" dirty="0" err="1">
                <a:latin typeface="Century Gothic" panose="020B0502020202020204" pitchFamily="34" charset="0"/>
              </a:rPr>
              <a:t>denna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klass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 err="1">
                <a:latin typeface="Century Gothic" panose="020B0502020202020204" pitchFamily="34" charset="0"/>
              </a:rPr>
              <a:t>Här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har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skapat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klass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kallar</a:t>
            </a:r>
            <a:r>
              <a:rPr lang="en-US" dirty="0">
                <a:latin typeface="Century Gothic" panose="020B0502020202020204" pitchFamily="34" charset="0"/>
              </a:rPr>
              <a:t> för </a:t>
            </a:r>
            <a:r>
              <a:rPr lang="en-US" i="1" dirty="0">
                <a:latin typeface="Century Gothic" panose="020B0502020202020204" pitchFamily="34" charset="0"/>
              </a:rPr>
              <a:t>neuron.</a:t>
            </a:r>
          </a:p>
        </p:txBody>
      </p:sp>
    </p:spTree>
    <p:extLst>
      <p:ext uri="{BB962C8B-B14F-4D97-AF65-F5344CB8AC3E}">
        <p14:creationId xmlns:p14="http://schemas.microsoft.com/office/powerpoint/2010/main" val="203774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F3FAF-2970-6218-FB9A-67DD1610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1" y="1950071"/>
            <a:ext cx="5073848" cy="2715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5ADFE3-E1FA-9CD7-5688-E48D061F7B0D}"/>
              </a:ext>
            </a:extLst>
          </p:cNvPr>
          <p:cNvSpPr txBox="1"/>
          <p:nvPr/>
        </p:nvSpPr>
        <p:spPr>
          <a:xfrm>
            <a:off x="5825068" y="1950071"/>
            <a:ext cx="5799666" cy="64633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Dessa </a:t>
            </a:r>
            <a:r>
              <a:rPr lang="en-US" dirty="0" err="1">
                <a:latin typeface="Century Gothic" panose="020B0502020202020204" pitchFamily="34" charset="0"/>
              </a:rPr>
              <a:t>snuttar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har</a:t>
            </a:r>
            <a:r>
              <a:rPr lang="en-US" dirty="0">
                <a:latin typeface="Century Gothic" panose="020B0502020202020204" pitchFamily="34" charset="0"/>
              </a:rPr>
              <a:t> med inheritance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göra</a:t>
            </a:r>
            <a:r>
              <a:rPr lang="en-US" dirty="0">
                <a:latin typeface="Century Gothic" panose="020B0502020202020204" pitchFamily="34" charset="0"/>
              </a:rPr>
              <a:t>. Don’t worry about them, de ska </a:t>
            </a:r>
            <a:r>
              <a:rPr lang="en-US" dirty="0" err="1">
                <a:latin typeface="Century Gothic" panose="020B0502020202020204" pitchFamily="34" charset="0"/>
              </a:rPr>
              <a:t>alltid</a:t>
            </a:r>
            <a:r>
              <a:rPr lang="en-US" dirty="0">
                <a:latin typeface="Century Gothic" panose="020B0502020202020204" pitchFamily="34" charset="0"/>
              </a:rPr>
              <a:t> se </a:t>
            </a:r>
            <a:r>
              <a:rPr lang="en-US" dirty="0" err="1">
                <a:latin typeface="Century Gothic" panose="020B0502020202020204" pitchFamily="34" charset="0"/>
              </a:rPr>
              <a:t>ut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såhär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en-US" i="1" dirty="0">
              <a:latin typeface="Century Gothic" panose="020B0502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C895DE9-57A6-45A1-FED0-284FA8F2C49A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403600" y="2273237"/>
            <a:ext cx="2421468" cy="58133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2275DB-C1A0-D27E-32A9-AE06C857053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893733" y="2273237"/>
            <a:ext cx="931335" cy="98643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2613-4779-8764-E884-D35A8F73D8A1}"/>
              </a:ext>
            </a:extLst>
          </p:cNvPr>
          <p:cNvSpPr/>
          <p:nvPr/>
        </p:nvSpPr>
        <p:spPr>
          <a:xfrm>
            <a:off x="1591733" y="2743200"/>
            <a:ext cx="1718734" cy="217269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94403-CEF3-A064-FC2D-9A368A4E8574}"/>
              </a:ext>
            </a:extLst>
          </p:cNvPr>
          <p:cNvSpPr/>
          <p:nvPr/>
        </p:nvSpPr>
        <p:spPr>
          <a:xfrm>
            <a:off x="1820332" y="3167966"/>
            <a:ext cx="3005667" cy="217269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9756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F3FAF-2970-6218-FB9A-67DD1610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1" y="1950071"/>
            <a:ext cx="5073848" cy="27150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3D6DEE-CD4B-C3F5-0E50-EC28D1A9CF37}"/>
              </a:ext>
            </a:extLst>
          </p:cNvPr>
          <p:cNvSpPr txBox="1"/>
          <p:nvPr/>
        </p:nvSpPr>
        <p:spPr>
          <a:xfrm>
            <a:off x="5825066" y="2871639"/>
            <a:ext cx="5799666" cy="92333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entury Gothic" panose="020B0502020202020204" pitchFamily="34" charset="0"/>
              </a:rPr>
              <a:t>Utöver</a:t>
            </a:r>
            <a:r>
              <a:rPr lang="en-US" dirty="0">
                <a:latin typeface="Century Gothic" panose="020B0502020202020204" pitchFamily="34" charset="0"/>
              </a:rPr>
              <a:t> det </a:t>
            </a:r>
            <a:r>
              <a:rPr lang="en-US" dirty="0" err="1">
                <a:latin typeface="Century Gothic" panose="020B0502020202020204" pitchFamily="34" charset="0"/>
              </a:rPr>
              <a:t>har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två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definitioner</a:t>
            </a:r>
            <a:r>
              <a:rPr lang="en-US" dirty="0">
                <a:latin typeface="Century Gothic" panose="020B0502020202020204" pitchFamily="34" charset="0"/>
              </a:rPr>
              <a:t>. Den </a:t>
            </a:r>
            <a:r>
              <a:rPr lang="en-US" dirty="0" err="1">
                <a:latin typeface="Century Gothic" panose="020B0502020202020204" pitchFamily="34" charset="0"/>
              </a:rPr>
              <a:t>ena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__</a:t>
            </a:r>
            <a:r>
              <a:rPr lang="en-US" dirty="0" err="1">
                <a:latin typeface="Century Gothic" panose="020B0502020202020204" pitchFamily="34" charset="0"/>
              </a:rPr>
              <a:t>init</a:t>
            </a:r>
            <a:r>
              <a:rPr lang="en-US" dirty="0">
                <a:latin typeface="Century Gothic" panose="020B0502020202020204" pitchFamily="34" charset="0"/>
              </a:rPr>
              <a:t>__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konstruerar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arkitekturen</a:t>
            </a:r>
            <a:r>
              <a:rPr lang="en-US" dirty="0">
                <a:latin typeface="Century Gothic" panose="020B0502020202020204" pitchFamily="34" charset="0"/>
              </a:rPr>
              <a:t> av </a:t>
            </a:r>
            <a:r>
              <a:rPr lang="en-US" dirty="0" err="1">
                <a:latin typeface="Century Gothic" panose="020B0502020202020204" pitchFamily="34" charset="0"/>
              </a:rPr>
              <a:t>modellen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när</a:t>
            </a:r>
            <a:r>
              <a:rPr lang="en-US" dirty="0">
                <a:latin typeface="Century Gothic" panose="020B0502020202020204" pitchFamily="34" charset="0"/>
              </a:rPr>
              <a:t> man </a:t>
            </a:r>
            <a:r>
              <a:rPr lang="en-US" dirty="0" err="1">
                <a:latin typeface="Century Gothic" panose="020B0502020202020204" pitchFamily="34" charset="0"/>
              </a:rPr>
              <a:t>skapar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instans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C739C-D657-297B-E440-AF88F212ED37}"/>
              </a:ext>
            </a:extLst>
          </p:cNvPr>
          <p:cNvSpPr txBox="1"/>
          <p:nvPr/>
        </p:nvSpPr>
        <p:spPr>
          <a:xfrm>
            <a:off x="5825066" y="4070563"/>
            <a:ext cx="6288962" cy="92333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Den </a:t>
            </a:r>
            <a:r>
              <a:rPr lang="en-US" dirty="0" err="1">
                <a:latin typeface="Century Gothic" panose="020B0502020202020204" pitchFamily="34" charset="0"/>
              </a:rPr>
              <a:t>andra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klass-metod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kallas</a:t>
            </a:r>
            <a:r>
              <a:rPr lang="en-US" dirty="0">
                <a:latin typeface="Century Gothic" panose="020B0502020202020204" pitchFamily="34" charset="0"/>
              </a:rPr>
              <a:t> forward. Den </a:t>
            </a:r>
            <a:r>
              <a:rPr lang="en-US" dirty="0" err="1">
                <a:latin typeface="Century Gothic" panose="020B0502020202020204" pitchFamily="34" charset="0"/>
              </a:rPr>
              <a:t>bestämmer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vad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vår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modell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faktiskt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gör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när</a:t>
            </a:r>
            <a:r>
              <a:rPr lang="en-US" dirty="0">
                <a:latin typeface="Century Gothic" panose="020B0502020202020204" pitchFamily="34" charset="0"/>
              </a:rPr>
              <a:t> vi ger den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input x.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0212B9-CB17-0179-DF09-7DB16C21D5DC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4504267" y="3064793"/>
            <a:ext cx="1320799" cy="26851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8E6B42-08DC-6ABA-756C-083011760254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581400" y="3988123"/>
            <a:ext cx="2243666" cy="54410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60974-F048-8B76-B115-97933EE54A66}"/>
              </a:ext>
            </a:extLst>
          </p:cNvPr>
          <p:cNvSpPr/>
          <p:nvPr/>
        </p:nvSpPr>
        <p:spPr>
          <a:xfrm>
            <a:off x="1422400" y="2969068"/>
            <a:ext cx="2971800" cy="21727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80257D-75AE-7AD1-5176-A2139D75428F}"/>
              </a:ext>
            </a:extLst>
          </p:cNvPr>
          <p:cNvSpPr/>
          <p:nvPr/>
        </p:nvSpPr>
        <p:spPr>
          <a:xfrm>
            <a:off x="1422400" y="3843858"/>
            <a:ext cx="2091267" cy="217270"/>
          </a:xfrm>
          <a:prstGeom prst="rect">
            <a:avLst/>
          </a:prstGeom>
          <a:noFill/>
          <a:ln w="2857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23538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F3FAF-2970-6218-FB9A-67DD1610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1" y="1950071"/>
            <a:ext cx="5073848" cy="2715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5C739C-D657-297B-E440-AF88F212ED37}"/>
              </a:ext>
            </a:extLst>
          </p:cNvPr>
          <p:cNvSpPr txBox="1"/>
          <p:nvPr/>
        </p:nvSpPr>
        <p:spPr>
          <a:xfrm>
            <a:off x="5431857" y="723010"/>
            <a:ext cx="6497873" cy="1200329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entury Gothic" panose="020B0502020202020204" pitchFamily="34" charset="0"/>
              </a:rPr>
              <a:t>Här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börjar</a:t>
            </a:r>
            <a:r>
              <a:rPr lang="en-US" dirty="0">
                <a:latin typeface="Century Gothic" panose="020B0502020202020204" pitchFamily="34" charset="0"/>
              </a:rPr>
              <a:t> det </a:t>
            </a:r>
            <a:r>
              <a:rPr lang="en-US" dirty="0" err="1">
                <a:latin typeface="Century Gothic" panose="020B0502020202020204" pitchFamily="34" charset="0"/>
              </a:rPr>
              <a:t>härliga</a:t>
            </a:r>
            <a:r>
              <a:rPr lang="en-US" dirty="0">
                <a:latin typeface="Century Gothic" panose="020B0502020202020204" pitchFamily="34" charset="0"/>
              </a:rPr>
              <a:t> med </a:t>
            </a:r>
            <a:r>
              <a:rPr lang="en-US" dirty="0" err="1">
                <a:latin typeface="Century Gothic" panose="020B0502020202020204" pitchFamily="34" charset="0"/>
              </a:rPr>
              <a:t>PyTorch</a:t>
            </a:r>
            <a:r>
              <a:rPr lang="en-US" dirty="0">
                <a:latin typeface="Century Gothic" panose="020B0502020202020204" pitchFamily="34" charset="0"/>
              </a:rPr>
              <a:t>…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 err="1">
                <a:latin typeface="Century Gothic" panose="020B0502020202020204" pitchFamily="34" charset="0"/>
              </a:rPr>
              <a:t>Self.fc</a:t>
            </a:r>
            <a:r>
              <a:rPr lang="en-US" dirty="0">
                <a:latin typeface="Century Gothic" panose="020B0502020202020204" pitchFamily="34" charset="0"/>
              </a:rPr>
              <a:t> = </a:t>
            </a:r>
            <a:r>
              <a:rPr lang="en-US" dirty="0" err="1">
                <a:latin typeface="Century Gothic" panose="020B0502020202020204" pitchFamily="34" charset="0"/>
              </a:rPr>
              <a:t>nn.Linear</a:t>
            </a:r>
            <a:r>
              <a:rPr lang="en-US" dirty="0">
                <a:latin typeface="Century Gothic" panose="020B0502020202020204" pitchFamily="34" charset="0"/>
              </a:rPr>
              <a:t>(</a:t>
            </a:r>
            <a:r>
              <a:rPr lang="en-US" dirty="0" err="1">
                <a:latin typeface="Century Gothic" panose="020B0502020202020204" pitchFamily="34" charset="0"/>
              </a:rPr>
              <a:t>input_size</a:t>
            </a:r>
            <a:r>
              <a:rPr lang="en-US" dirty="0">
                <a:latin typeface="Century Gothic" panose="020B0502020202020204" pitchFamily="34" charset="0"/>
              </a:rPr>
              <a:t>, 1)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ingenting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annat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än</a:t>
            </a:r>
            <a:r>
              <a:rPr lang="en-US" dirty="0">
                <a:latin typeface="Century Gothic" panose="020B0502020202020204" pitchFamily="34" charset="0"/>
              </a:rPr>
              <a:t>…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96FD4D-5A38-2B80-4A13-265B556C4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963" y="1976803"/>
            <a:ext cx="4409402" cy="3196501"/>
          </a:xfrm>
          <a:prstGeom prst="rect">
            <a:avLst/>
          </a:prstGeom>
          <a:ln w="28575"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0B2B62-9B61-F6CF-9F80-72F385BF9D1A}"/>
              </a:ext>
            </a:extLst>
          </p:cNvPr>
          <p:cNvSpPr/>
          <p:nvPr/>
        </p:nvSpPr>
        <p:spPr>
          <a:xfrm>
            <a:off x="1828800" y="3374065"/>
            <a:ext cx="3388241" cy="290623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975EC-4B7B-7852-4B10-F5F27851090E}"/>
              </a:ext>
            </a:extLst>
          </p:cNvPr>
          <p:cNvSpPr txBox="1"/>
          <p:nvPr/>
        </p:nvSpPr>
        <p:spPr>
          <a:xfrm>
            <a:off x="561433" y="5261766"/>
            <a:ext cx="8284855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… </a:t>
            </a:r>
            <a:r>
              <a:rPr lang="en-US" dirty="0" err="1">
                <a:latin typeface="Century Gothic" panose="020B0502020202020204" pitchFamily="34" charset="0"/>
              </a:rPr>
              <a:t>summeringsdelen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vår</a:t>
            </a:r>
            <a:r>
              <a:rPr lang="en-US" dirty="0">
                <a:latin typeface="Century Gothic" panose="020B0502020202020204" pitchFamily="34" charset="0"/>
              </a:rPr>
              <a:t> neuron-</a:t>
            </a:r>
            <a:r>
              <a:rPr lang="en-US" dirty="0" err="1">
                <a:latin typeface="Century Gothic" panose="020B0502020202020204" pitchFamily="34" charset="0"/>
              </a:rPr>
              <a:t>modell</a:t>
            </a:r>
            <a:r>
              <a:rPr lang="en-US" dirty="0">
                <a:latin typeface="Century Gothic" panose="020B0502020202020204" pitchFamily="34" charset="0"/>
              </a:rPr>
              <a:t>! 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 err="1">
                <a:latin typeface="Century Gothic" panose="020B0502020202020204" pitchFamily="34" charset="0"/>
              </a:rPr>
              <a:t>Antal</a:t>
            </a:r>
            <a:r>
              <a:rPr lang="en-US" dirty="0">
                <a:latin typeface="Century Gothic" panose="020B0502020202020204" pitchFamily="34" charset="0"/>
              </a:rPr>
              <a:t> inputs </a:t>
            </a:r>
            <a:r>
              <a:rPr lang="en-US" dirty="0" err="1">
                <a:latin typeface="Century Gothic" panose="020B0502020202020204" pitchFamily="34" charset="0"/>
              </a:rPr>
              <a:t>bestäms</a:t>
            </a:r>
            <a:r>
              <a:rPr lang="en-US" dirty="0">
                <a:latin typeface="Century Gothic" panose="020B0502020202020204" pitchFamily="34" charset="0"/>
              </a:rPr>
              <a:t> av </a:t>
            </a:r>
            <a:r>
              <a:rPr lang="en-US" dirty="0" err="1">
                <a:latin typeface="Century Gothic" panose="020B0502020202020204" pitchFamily="34" charset="0"/>
              </a:rPr>
              <a:t>input_size</a:t>
            </a:r>
            <a:r>
              <a:rPr lang="en-US" dirty="0">
                <a:latin typeface="Century Gothic" panose="020B0502020202020204" pitchFamily="34" charset="0"/>
              </a:rPr>
              <a:t>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04088-876E-A9E1-D4D7-76B5CCF9C341}"/>
              </a:ext>
            </a:extLst>
          </p:cNvPr>
          <p:cNvSpPr/>
          <p:nvPr/>
        </p:nvSpPr>
        <p:spPr>
          <a:xfrm>
            <a:off x="6515963" y="1950071"/>
            <a:ext cx="2869042" cy="3223233"/>
          </a:xfrm>
          <a:prstGeom prst="rect">
            <a:avLst/>
          </a:prstGeom>
          <a:noFill/>
          <a:ln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85141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F3FAF-2970-6218-FB9A-67DD1610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1" y="1950071"/>
            <a:ext cx="5073848" cy="2715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5C739C-D657-297B-E440-AF88F212ED37}"/>
              </a:ext>
            </a:extLst>
          </p:cNvPr>
          <p:cNvSpPr txBox="1"/>
          <p:nvPr/>
        </p:nvSpPr>
        <p:spPr>
          <a:xfrm>
            <a:off x="5698066" y="2530012"/>
            <a:ext cx="5799666" cy="9233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Som vi ser tar forward </a:t>
            </a:r>
            <a:r>
              <a:rPr lang="en-US" dirty="0" err="1">
                <a:latin typeface="Century Gothic" panose="020B0502020202020204" pitchFamily="34" charset="0"/>
              </a:rPr>
              <a:t>en</a:t>
            </a:r>
            <a:r>
              <a:rPr lang="en-US" dirty="0">
                <a:latin typeface="Century Gothic" panose="020B0502020202020204" pitchFamily="34" charset="0"/>
              </a:rPr>
              <a:t> input x, </a:t>
            </a:r>
            <a:r>
              <a:rPr lang="en-US" dirty="0" err="1">
                <a:latin typeface="Century Gothic" panose="020B0502020202020204" pitchFamily="34" charset="0"/>
              </a:rPr>
              <a:t>skickar</a:t>
            </a:r>
            <a:r>
              <a:rPr lang="en-US" dirty="0">
                <a:latin typeface="Century Gothic" panose="020B0502020202020204" pitchFamily="34" charset="0"/>
              </a:rPr>
              <a:t> den </a:t>
            </a:r>
            <a:r>
              <a:rPr lang="en-US" dirty="0" err="1">
                <a:latin typeface="Century Gothic" panose="020B0502020202020204" pitchFamily="34" charset="0"/>
              </a:rPr>
              <a:t>igenom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self.fc</a:t>
            </a:r>
            <a:r>
              <a:rPr lang="en-US" dirty="0">
                <a:latin typeface="Century Gothic" panose="020B0502020202020204" pitchFamily="34" charset="0"/>
              </a:rPr>
              <a:t>() </a:t>
            </a:r>
            <a:r>
              <a:rPr lang="en-US" dirty="0" err="1">
                <a:latin typeface="Century Gothic" panose="020B0502020202020204" pitchFamily="34" charset="0"/>
              </a:rPr>
              <a:t>och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skriver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över</a:t>
            </a:r>
            <a:r>
              <a:rPr lang="en-US" dirty="0">
                <a:latin typeface="Century Gothic" panose="020B0502020202020204" pitchFamily="34" charset="0"/>
              </a:rPr>
              <a:t> x med </a:t>
            </a:r>
            <a:r>
              <a:rPr lang="en-US" dirty="0" err="1">
                <a:latin typeface="Century Gothic" panose="020B0502020202020204" pitchFamily="34" charset="0"/>
              </a:rPr>
              <a:t>dess</a:t>
            </a:r>
            <a:r>
              <a:rPr lang="en-US" dirty="0">
                <a:latin typeface="Century Gothic" panose="020B0502020202020204" pitchFamily="34" charset="0"/>
              </a:rPr>
              <a:t> output, </a:t>
            </a:r>
            <a:r>
              <a:rPr lang="en-US" dirty="0" err="1">
                <a:latin typeface="Century Gothic" panose="020B0502020202020204" pitchFamily="34" charset="0"/>
              </a:rPr>
              <a:t>och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returnerar</a:t>
            </a:r>
            <a:r>
              <a:rPr lang="en-US" dirty="0">
                <a:latin typeface="Century Gothic" panose="020B0502020202020204" pitchFamily="34" charset="0"/>
              </a:rPr>
              <a:t> det.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8E6B42-08DC-6ABA-756C-08301176025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615267" y="2991677"/>
            <a:ext cx="2082799" cy="11782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A80257D-75AE-7AD1-5176-A2139D75428F}"/>
              </a:ext>
            </a:extLst>
          </p:cNvPr>
          <p:cNvSpPr/>
          <p:nvPr/>
        </p:nvSpPr>
        <p:spPr>
          <a:xfrm>
            <a:off x="1422400" y="3843858"/>
            <a:ext cx="2091267" cy="651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78088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F3FAF-2970-6218-FB9A-67DD1610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1" y="1950071"/>
            <a:ext cx="5073848" cy="271506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A80257D-75AE-7AD1-5176-A2139D75428F}"/>
              </a:ext>
            </a:extLst>
          </p:cNvPr>
          <p:cNvSpPr/>
          <p:nvPr/>
        </p:nvSpPr>
        <p:spPr>
          <a:xfrm>
            <a:off x="1422400" y="3843858"/>
            <a:ext cx="2091267" cy="65194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8E2A4B-2F5B-1601-7FA9-525382E7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963" y="1976803"/>
            <a:ext cx="4409402" cy="3196501"/>
          </a:xfrm>
          <a:prstGeom prst="rect">
            <a:avLst/>
          </a:prstGeom>
          <a:ln w="28575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75C619-5775-3770-F15A-1E5D56B11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36" y="5237541"/>
            <a:ext cx="101441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51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C739C-D657-297B-E440-AF88F212ED37}"/>
              </a:ext>
            </a:extLst>
          </p:cNvPr>
          <p:cNvSpPr txBox="1"/>
          <p:nvPr/>
        </p:nvSpPr>
        <p:spPr>
          <a:xfrm>
            <a:off x="3686667" y="2299143"/>
            <a:ext cx="4818663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Ok, </a:t>
            </a:r>
            <a:r>
              <a:rPr lang="en-US" b="1" dirty="0" err="1">
                <a:latin typeface="Century Gothic" panose="020B0502020202020204" pitchFamily="34" charset="0"/>
              </a:rPr>
              <a:t>hur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funkar</a:t>
            </a:r>
            <a:r>
              <a:rPr lang="en-US" b="1" dirty="0">
                <a:latin typeface="Century Gothic" panose="020B0502020202020204" pitchFamily="34" charset="0"/>
              </a:rPr>
              <a:t> det med </a:t>
            </a:r>
            <a:r>
              <a:rPr lang="en-US" b="1" dirty="0" err="1">
                <a:latin typeface="Century Gothic" panose="020B0502020202020204" pitchFamily="34" charset="0"/>
              </a:rPr>
              <a:t>att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skapa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modell-instanser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och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skicka</a:t>
            </a:r>
            <a:r>
              <a:rPr lang="en-US" b="1" dirty="0">
                <a:latin typeface="Century Gothic" panose="020B0502020202020204" pitchFamily="34" charset="0"/>
              </a:rPr>
              <a:t> in input, </a:t>
            </a:r>
            <a:r>
              <a:rPr lang="en-US" b="1" dirty="0" err="1">
                <a:latin typeface="Century Gothic" panose="020B0502020202020204" pitchFamily="34" charset="0"/>
              </a:rPr>
              <a:t>och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sånt</a:t>
            </a:r>
            <a:r>
              <a:rPr lang="en-US" b="1" dirty="0">
                <a:latin typeface="Century Gothic" panose="020B0502020202020204" pitchFamily="34" charset="0"/>
              </a:rPr>
              <a:t>?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757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722EB7-9700-20C7-864F-2A8E70E8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583" y="863598"/>
            <a:ext cx="4097981" cy="2192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717B7-EACC-7442-AC3C-017374C3570B}"/>
              </a:ext>
            </a:extLst>
          </p:cNvPr>
          <p:cNvSpPr txBox="1"/>
          <p:nvPr/>
        </p:nvSpPr>
        <p:spPr>
          <a:xfrm>
            <a:off x="866373" y="2946885"/>
            <a:ext cx="4179760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 err="1">
                <a:latin typeface="Century Gothic" panose="020B0502020202020204" pitchFamily="34" charset="0"/>
              </a:rPr>
              <a:t>Åskådliggör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modellen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392C862-AB77-4744-A6D9-B3B41994BB7E}"/>
              </a:ext>
            </a:extLst>
          </p:cNvPr>
          <p:cNvGrpSpPr/>
          <p:nvPr/>
        </p:nvGrpSpPr>
        <p:grpSpPr>
          <a:xfrm>
            <a:off x="7185110" y="3350085"/>
            <a:ext cx="4889238" cy="2451575"/>
            <a:chOff x="6888777" y="3290819"/>
            <a:chExt cx="4889238" cy="24515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4C2358-1875-6B2C-9B16-1F560A265D3F}"/>
                </a:ext>
              </a:extLst>
            </p:cNvPr>
            <p:cNvSpPr txBox="1"/>
            <p:nvPr/>
          </p:nvSpPr>
          <p:spPr>
            <a:xfrm>
              <a:off x="8017797" y="5231303"/>
              <a:ext cx="265879" cy="2696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>
                  <a:latin typeface="Century Gothic" panose="020B0502020202020204" pitchFamily="34" charset="0"/>
                </a:rPr>
                <a:t>b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47A5436-9A0A-9ED8-7477-EA7796237128}"/>
                </a:ext>
              </a:extLst>
            </p:cNvPr>
            <p:cNvGrpSpPr/>
            <p:nvPr/>
          </p:nvGrpSpPr>
          <p:grpSpPr>
            <a:xfrm>
              <a:off x="6888777" y="3290819"/>
              <a:ext cx="4889238" cy="2451575"/>
              <a:chOff x="6888777" y="3290819"/>
              <a:chExt cx="4889238" cy="245157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6580F37-1ED1-0DD5-F883-518ABD319ECD}"/>
                  </a:ext>
                </a:extLst>
              </p:cNvPr>
              <p:cNvGrpSpPr/>
              <p:nvPr/>
            </p:nvGrpSpPr>
            <p:grpSpPr>
              <a:xfrm>
                <a:off x="6888777" y="3290819"/>
                <a:ext cx="4889238" cy="2036590"/>
                <a:chOff x="6888777" y="3290819"/>
                <a:chExt cx="4889238" cy="2036590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B165802C-44DE-3F23-93A1-04B4E34A78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526430" y="4596306"/>
                  <a:ext cx="1455645" cy="49809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E5D31FA-0280-3A94-4B05-04D5B0662D78}"/>
                    </a:ext>
                  </a:extLst>
                </p:cNvPr>
                <p:cNvSpPr/>
                <p:nvPr/>
              </p:nvSpPr>
              <p:spPr>
                <a:xfrm>
                  <a:off x="8964203" y="4027406"/>
                  <a:ext cx="864000" cy="8640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E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071013A-3AD6-8C55-B234-13F9C0879872}"/>
                    </a:ext>
                  </a:extLst>
                </p:cNvPr>
                <p:cNvSpPr txBox="1"/>
                <p:nvPr/>
              </p:nvSpPr>
              <p:spPr>
                <a:xfrm>
                  <a:off x="6888777" y="3573083"/>
                  <a:ext cx="765727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i="1" dirty="0">
                      <a:latin typeface="Century Gothic" panose="020B0502020202020204" pitchFamily="34" charset="0"/>
                    </a:rPr>
                    <a:t>x</a:t>
                  </a:r>
                  <a:r>
                    <a:rPr lang="en-GB" sz="1200" i="1" baseline="-25000" dirty="0">
                      <a:latin typeface="Century Gothic" panose="020B0502020202020204" pitchFamily="34" charset="0"/>
                    </a:rPr>
                    <a:t>1</a:t>
                  </a: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r>
                    <a:rPr lang="en-GB" sz="1200" i="1" dirty="0">
                      <a:latin typeface="Century Gothic" panose="020B0502020202020204" pitchFamily="34" charset="0"/>
                    </a:rPr>
                    <a:t>x</a:t>
                  </a:r>
                  <a:r>
                    <a:rPr lang="en-GB" sz="1200" i="1" baseline="-25000" dirty="0">
                      <a:latin typeface="Century Gothic" panose="020B0502020202020204" pitchFamily="34" charset="0"/>
                    </a:rPr>
                    <a:t>2</a:t>
                  </a: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r>
                    <a:rPr lang="en-GB" sz="1200" i="1" dirty="0">
                      <a:latin typeface="Century Gothic" panose="020B0502020202020204" pitchFamily="34" charset="0"/>
                    </a:rPr>
                    <a:t>x</a:t>
                  </a:r>
                  <a:r>
                    <a:rPr lang="en-GB" sz="1200" i="1" baseline="-25000" dirty="0">
                      <a:latin typeface="Century Gothic" panose="020B0502020202020204" pitchFamily="34" charset="0"/>
                    </a:rPr>
                    <a:t>3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A9E15C03-06BB-BA90-06C1-5A7898D423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82221" y="3804257"/>
                      <a:ext cx="193450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SE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E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SE" sz="11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SE" sz="1100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A9E15C03-06BB-BA90-06C1-5A7898D423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82221" y="3804257"/>
                      <a:ext cx="193450" cy="1692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75" r="-6250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5F210C5-5BF1-45E7-2C3D-A6343964DC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58823" y="4233939"/>
                      <a:ext cx="196721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SE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E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11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SE" sz="11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5F210C5-5BF1-45E7-2C3D-A6343964DC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58823" y="4233939"/>
                      <a:ext cx="196721" cy="1692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75" r="-9375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12E8FEB3-62E2-8945-D9E9-127A9C9D85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58823" y="4664171"/>
                      <a:ext cx="196721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SE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E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11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SE" sz="1100" dirty="0"/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12E8FEB3-62E2-8945-D9E9-127A9C9D85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58823" y="4664171"/>
                      <a:ext cx="196721" cy="1692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9375" r="-9375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E6F3FA4-7EB9-A47F-076A-D2FEBDA20395}"/>
                    </a:ext>
                  </a:extLst>
                </p:cNvPr>
                <p:cNvSpPr txBox="1"/>
                <p:nvPr/>
              </p:nvSpPr>
              <p:spPr>
                <a:xfrm>
                  <a:off x="8658667" y="3663332"/>
                  <a:ext cx="1568889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 err="1">
                      <a:latin typeface="Century Gothic" panose="020B0502020202020204" pitchFamily="34" charset="0"/>
                    </a:rPr>
                    <a:t>Summeringsfunktion</a:t>
                  </a:r>
                  <a:endParaRPr lang="en-US" sz="1050" b="1" dirty="0">
                    <a:latin typeface="Century Gothic" panose="020B050202020202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A34611B4-CE3A-4A03-5910-F1E2259A38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67729" y="4249348"/>
                      <a:ext cx="691023" cy="42011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E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SE" sz="10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n-SE" sz="1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SE" sz="1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SE" sz="1000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SE" sz="1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SE" sz="1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SE" sz="1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oMath>
                        </m:oMathPara>
                      </a14:m>
                      <a:endParaRPr lang="en-SE" sz="1000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A34611B4-CE3A-4A03-5910-F1E2259A38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67729" y="4249348"/>
                      <a:ext cx="691023" cy="42011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35398" t="-123188" r="-99115" b="-1840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1DB605AC-EEB2-91F0-D4D8-E00023468883}"/>
                    </a:ext>
                  </a:extLst>
                </p:cNvPr>
                <p:cNvCxnSpPr>
                  <a:cxnSpLocks/>
                  <a:stCxn id="10" idx="6"/>
                </p:cNvCxnSpPr>
                <p:nvPr/>
              </p:nvCxnSpPr>
              <p:spPr>
                <a:xfrm flipV="1">
                  <a:off x="9828203" y="4459405"/>
                  <a:ext cx="399530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EE006AC-C264-CF95-AC11-EED3A36587E6}"/>
                    </a:ext>
                  </a:extLst>
                </p:cNvPr>
                <p:cNvSpPr/>
                <p:nvPr/>
              </p:nvSpPr>
              <p:spPr>
                <a:xfrm>
                  <a:off x="10227556" y="4286274"/>
                  <a:ext cx="399530" cy="34626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solidFill>
                        <a:schemeClr val="tx1"/>
                      </a:solidFill>
                    </a:rPr>
                    <a:t>f</a:t>
                  </a:r>
                  <a:endParaRPr lang="en-S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25CD8F-C089-BBDF-0F29-FCFD815BF5F1}"/>
                    </a:ext>
                  </a:extLst>
                </p:cNvPr>
                <p:cNvSpPr txBox="1"/>
                <p:nvPr/>
              </p:nvSpPr>
              <p:spPr>
                <a:xfrm>
                  <a:off x="9782727" y="4672113"/>
                  <a:ext cx="1414903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 err="1">
                      <a:latin typeface="Century Gothic" panose="020B0502020202020204" pitchFamily="34" charset="0"/>
                    </a:rPr>
                    <a:t>aktiveringsfunktion</a:t>
                  </a:r>
                  <a:endParaRPr lang="en-US" sz="1050" b="1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5065C94-0D09-CDB4-E586-63B1AC442E7F}"/>
                    </a:ext>
                  </a:extLst>
                </p:cNvPr>
                <p:cNvSpPr txBox="1"/>
                <p:nvPr/>
              </p:nvSpPr>
              <p:spPr>
                <a:xfrm>
                  <a:off x="11136665" y="4332446"/>
                  <a:ext cx="641350" cy="25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latin typeface="Century Gothic" panose="020B0502020202020204" pitchFamily="34" charset="0"/>
                    </a:rPr>
                    <a:t>output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A5DAF6F-9235-87B4-5234-10AA74FED8DD}"/>
                    </a:ext>
                  </a:extLst>
                </p:cNvPr>
                <p:cNvSpPr txBox="1"/>
                <p:nvPr/>
              </p:nvSpPr>
              <p:spPr>
                <a:xfrm>
                  <a:off x="6974037" y="3290819"/>
                  <a:ext cx="595205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latin typeface="Century Gothic" panose="020B0502020202020204" pitchFamily="34" charset="0"/>
                    </a:rPr>
                    <a:t>inputs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A13CA417-25B7-2A31-17ED-601913FB3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26430" y="3801536"/>
                  <a:ext cx="1455645" cy="5053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FBE98AAD-9D72-CC4E-2768-DE47CDDB6ED7}"/>
                    </a:ext>
                  </a:extLst>
                </p:cNvPr>
                <p:cNvCxnSpPr>
                  <a:cxnSpLocks/>
                  <a:endCxn id="10" idx="2"/>
                </p:cNvCxnSpPr>
                <p:nvPr/>
              </p:nvCxnSpPr>
              <p:spPr>
                <a:xfrm>
                  <a:off x="7526430" y="4450246"/>
                  <a:ext cx="1437773" cy="91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C9AF3282-4271-179C-40B8-3244E3F67A4E}"/>
                    </a:ext>
                  </a:extLst>
                </p:cNvPr>
                <p:cNvCxnSpPr>
                  <a:cxnSpLocks/>
                  <a:endCxn id="10" idx="3"/>
                </p:cNvCxnSpPr>
                <p:nvPr/>
              </p:nvCxnSpPr>
              <p:spPr>
                <a:xfrm flipV="1">
                  <a:off x="8307651" y="4764876"/>
                  <a:ext cx="783082" cy="51954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4C51970F-422C-B4BA-51D7-E1D00C6F4D06}"/>
                    </a:ext>
                  </a:extLst>
                </p:cNvPr>
                <p:cNvCxnSpPr/>
                <p:nvPr/>
              </p:nvCxnSpPr>
              <p:spPr>
                <a:xfrm>
                  <a:off x="10627086" y="4459394"/>
                  <a:ext cx="46001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9B3D17-81FE-B918-5821-0FCC43BC5032}"/>
                  </a:ext>
                </a:extLst>
              </p:cNvPr>
              <p:cNvSpPr txBox="1"/>
              <p:nvPr/>
            </p:nvSpPr>
            <p:spPr>
              <a:xfrm>
                <a:off x="7715854" y="5488478"/>
                <a:ext cx="934860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050" b="1" dirty="0" err="1">
                    <a:solidFill>
                      <a:srgbClr val="70AD47"/>
                    </a:solidFill>
                    <a:latin typeface="Century Gothic" panose="020B0502020202020204" pitchFamily="34" charset="0"/>
                  </a:rPr>
                  <a:t>parametrar</a:t>
                </a:r>
                <a:endParaRPr lang="en-US" sz="1050" b="1" dirty="0">
                  <a:solidFill>
                    <a:srgbClr val="70AD47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D2E4831-8717-1575-422C-527DFE2CF52E}"/>
                  </a:ext>
                </a:extLst>
              </p:cNvPr>
              <p:cNvSpPr/>
              <p:nvPr/>
            </p:nvSpPr>
            <p:spPr>
              <a:xfrm>
                <a:off x="8037500" y="3755373"/>
                <a:ext cx="246527" cy="1754326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</p:grp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D51810E6-6577-CC64-4B66-253E943F99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94" y="3451375"/>
            <a:ext cx="5019675" cy="9715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DE6C405-8B9F-38A1-8019-10FF95BA147D}"/>
              </a:ext>
            </a:extLst>
          </p:cNvPr>
          <p:cNvSpPr txBox="1"/>
          <p:nvPr/>
        </p:nvSpPr>
        <p:spPr>
          <a:xfrm>
            <a:off x="866373" y="1349401"/>
            <a:ext cx="4481696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 err="1">
                <a:latin typeface="Century Gothic" panose="020B0502020202020204" pitchFamily="34" charset="0"/>
              </a:rPr>
              <a:t>Initiera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en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instans</a:t>
            </a:r>
            <a:r>
              <a:rPr lang="en-US" b="1" dirty="0">
                <a:latin typeface="Century Gothic" panose="020B0502020202020204" pitchFamily="34" charset="0"/>
              </a:rPr>
              <a:t> av neuron-</a:t>
            </a:r>
            <a:r>
              <a:rPr lang="en-US" b="1" dirty="0" err="1">
                <a:latin typeface="Century Gothic" panose="020B0502020202020204" pitchFamily="34" charset="0"/>
              </a:rPr>
              <a:t>klassen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7AB180-ED68-4100-595D-2F6758D9901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520267" y="3976514"/>
            <a:ext cx="1664843" cy="5329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500AA71B-CFFD-AC54-DB60-75E34B2606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394" y="1801856"/>
            <a:ext cx="2714625" cy="73342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888E51B-5637-723B-7D6D-90FA559E1E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394" y="5082727"/>
            <a:ext cx="5076825" cy="78105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E3C703D-B388-0904-9111-4D4034EBD173}"/>
              </a:ext>
            </a:extLst>
          </p:cNvPr>
          <p:cNvSpPr txBox="1"/>
          <p:nvPr/>
        </p:nvSpPr>
        <p:spPr>
          <a:xfrm>
            <a:off x="872643" y="4641000"/>
            <a:ext cx="4618230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Se </a:t>
            </a:r>
            <a:r>
              <a:rPr lang="en-US" b="1" dirty="0" err="1">
                <a:latin typeface="Century Gothic" panose="020B0502020202020204" pitchFamily="34" charset="0"/>
              </a:rPr>
              <a:t>hur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många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parametrar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modellen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har</a:t>
            </a:r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94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722EB7-9700-20C7-864F-2A8E70E8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583" y="863598"/>
            <a:ext cx="4097981" cy="219286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392C862-AB77-4744-A6D9-B3B41994BB7E}"/>
              </a:ext>
            </a:extLst>
          </p:cNvPr>
          <p:cNvGrpSpPr/>
          <p:nvPr/>
        </p:nvGrpSpPr>
        <p:grpSpPr>
          <a:xfrm>
            <a:off x="7185110" y="3350085"/>
            <a:ext cx="4889238" cy="2451575"/>
            <a:chOff x="6888777" y="3290819"/>
            <a:chExt cx="4889238" cy="24515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4C2358-1875-6B2C-9B16-1F560A265D3F}"/>
                </a:ext>
              </a:extLst>
            </p:cNvPr>
            <p:cNvSpPr txBox="1"/>
            <p:nvPr/>
          </p:nvSpPr>
          <p:spPr>
            <a:xfrm>
              <a:off x="8017797" y="5231303"/>
              <a:ext cx="265879" cy="2696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>
                  <a:latin typeface="Century Gothic" panose="020B0502020202020204" pitchFamily="34" charset="0"/>
                </a:rPr>
                <a:t>b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47A5436-9A0A-9ED8-7477-EA7796237128}"/>
                </a:ext>
              </a:extLst>
            </p:cNvPr>
            <p:cNvGrpSpPr/>
            <p:nvPr/>
          </p:nvGrpSpPr>
          <p:grpSpPr>
            <a:xfrm>
              <a:off x="6888777" y="3290819"/>
              <a:ext cx="4889238" cy="2451575"/>
              <a:chOff x="6888777" y="3290819"/>
              <a:chExt cx="4889238" cy="245157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6580F37-1ED1-0DD5-F883-518ABD319ECD}"/>
                  </a:ext>
                </a:extLst>
              </p:cNvPr>
              <p:cNvGrpSpPr/>
              <p:nvPr/>
            </p:nvGrpSpPr>
            <p:grpSpPr>
              <a:xfrm>
                <a:off x="6888777" y="3290819"/>
                <a:ext cx="4889238" cy="2036590"/>
                <a:chOff x="6888777" y="3290819"/>
                <a:chExt cx="4889238" cy="2036590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B165802C-44DE-3F23-93A1-04B4E34A78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526430" y="4596306"/>
                  <a:ext cx="1455645" cy="49809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E5D31FA-0280-3A94-4B05-04D5B0662D78}"/>
                    </a:ext>
                  </a:extLst>
                </p:cNvPr>
                <p:cNvSpPr/>
                <p:nvPr/>
              </p:nvSpPr>
              <p:spPr>
                <a:xfrm>
                  <a:off x="8964203" y="4027406"/>
                  <a:ext cx="864000" cy="8640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E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071013A-3AD6-8C55-B234-13F9C0879872}"/>
                    </a:ext>
                  </a:extLst>
                </p:cNvPr>
                <p:cNvSpPr txBox="1"/>
                <p:nvPr/>
              </p:nvSpPr>
              <p:spPr>
                <a:xfrm>
                  <a:off x="6888777" y="3573083"/>
                  <a:ext cx="765727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i="1" dirty="0">
                      <a:latin typeface="Century Gothic" panose="020B0502020202020204" pitchFamily="34" charset="0"/>
                    </a:rPr>
                    <a:t>x</a:t>
                  </a:r>
                  <a:r>
                    <a:rPr lang="en-GB" sz="1200" i="1" baseline="-25000" dirty="0">
                      <a:latin typeface="Century Gothic" panose="020B0502020202020204" pitchFamily="34" charset="0"/>
                    </a:rPr>
                    <a:t>1</a:t>
                  </a: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r>
                    <a:rPr lang="en-GB" sz="1200" i="1" dirty="0">
                      <a:latin typeface="Century Gothic" panose="020B0502020202020204" pitchFamily="34" charset="0"/>
                    </a:rPr>
                    <a:t>x</a:t>
                  </a:r>
                  <a:r>
                    <a:rPr lang="en-GB" sz="1200" i="1" baseline="-25000" dirty="0">
                      <a:latin typeface="Century Gothic" panose="020B0502020202020204" pitchFamily="34" charset="0"/>
                    </a:rPr>
                    <a:t>2</a:t>
                  </a: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endParaRPr lang="en-GB" sz="1200" i="1" dirty="0">
                    <a:latin typeface="Century Gothic" panose="020B0502020202020204" pitchFamily="34" charset="0"/>
                  </a:endParaRPr>
                </a:p>
                <a:p>
                  <a:pPr algn="ctr"/>
                  <a:r>
                    <a:rPr lang="en-GB" sz="1200" i="1" dirty="0">
                      <a:latin typeface="Century Gothic" panose="020B0502020202020204" pitchFamily="34" charset="0"/>
                    </a:rPr>
                    <a:t>x</a:t>
                  </a:r>
                  <a:r>
                    <a:rPr lang="en-GB" sz="1200" i="1" baseline="-25000" dirty="0">
                      <a:latin typeface="Century Gothic" panose="020B0502020202020204" pitchFamily="34" charset="0"/>
                    </a:rPr>
                    <a:t>3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A9E15C03-06BB-BA90-06C1-5A7898D423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82221" y="3804257"/>
                      <a:ext cx="193450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SE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E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SE" sz="11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SE" sz="1100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A9E15C03-06BB-BA90-06C1-5A7898D423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82221" y="3804257"/>
                      <a:ext cx="193450" cy="1692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75" r="-6250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5F210C5-5BF1-45E7-2C3D-A6343964DC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58823" y="4233939"/>
                      <a:ext cx="196721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SE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E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11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SE" sz="11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B5F210C5-5BF1-45E7-2C3D-A6343964DC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58823" y="4233939"/>
                      <a:ext cx="196721" cy="1692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75" r="-9375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12E8FEB3-62E2-8945-D9E9-127A9C9D85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58823" y="4664171"/>
                      <a:ext cx="196721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SE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E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11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SE" sz="1100" dirty="0"/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12E8FEB3-62E2-8945-D9E9-127A9C9D85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58823" y="4664171"/>
                      <a:ext cx="196721" cy="1692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9375" r="-9375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E6F3FA4-7EB9-A47F-076A-D2FEBDA20395}"/>
                    </a:ext>
                  </a:extLst>
                </p:cNvPr>
                <p:cNvSpPr txBox="1"/>
                <p:nvPr/>
              </p:nvSpPr>
              <p:spPr>
                <a:xfrm>
                  <a:off x="8658667" y="3663332"/>
                  <a:ext cx="1568889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 err="1">
                      <a:latin typeface="Century Gothic" panose="020B0502020202020204" pitchFamily="34" charset="0"/>
                    </a:rPr>
                    <a:t>Summeringsfunktion</a:t>
                  </a:r>
                  <a:endParaRPr lang="en-US" sz="1050" b="1" dirty="0">
                    <a:latin typeface="Century Gothic" panose="020B050202020202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A34611B4-CE3A-4A03-5910-F1E2259A38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67729" y="4249348"/>
                      <a:ext cx="691023" cy="42011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E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SE" sz="10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n-SE" sz="1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SE" sz="1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SE" sz="1000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SE" sz="1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SE" sz="1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SE" sz="10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SE" sz="1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oMath>
                        </m:oMathPara>
                      </a14:m>
                      <a:endParaRPr lang="en-SE" sz="1000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A34611B4-CE3A-4A03-5910-F1E2259A38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67729" y="4249348"/>
                      <a:ext cx="691023" cy="42011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35398" t="-123188" r="-99115" b="-1840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1DB605AC-EEB2-91F0-D4D8-E00023468883}"/>
                    </a:ext>
                  </a:extLst>
                </p:cNvPr>
                <p:cNvCxnSpPr>
                  <a:cxnSpLocks/>
                  <a:stCxn id="10" idx="6"/>
                </p:cNvCxnSpPr>
                <p:nvPr/>
              </p:nvCxnSpPr>
              <p:spPr>
                <a:xfrm flipV="1">
                  <a:off x="9828203" y="4459405"/>
                  <a:ext cx="399530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EE006AC-C264-CF95-AC11-EED3A36587E6}"/>
                    </a:ext>
                  </a:extLst>
                </p:cNvPr>
                <p:cNvSpPr/>
                <p:nvPr/>
              </p:nvSpPr>
              <p:spPr>
                <a:xfrm>
                  <a:off x="10227556" y="4286274"/>
                  <a:ext cx="399530" cy="34626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solidFill>
                        <a:schemeClr val="tx1"/>
                      </a:solidFill>
                    </a:rPr>
                    <a:t>f</a:t>
                  </a:r>
                  <a:endParaRPr lang="en-S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25CD8F-C089-BBDF-0F29-FCFD815BF5F1}"/>
                    </a:ext>
                  </a:extLst>
                </p:cNvPr>
                <p:cNvSpPr txBox="1"/>
                <p:nvPr/>
              </p:nvSpPr>
              <p:spPr>
                <a:xfrm>
                  <a:off x="9782727" y="4672113"/>
                  <a:ext cx="1414903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 err="1">
                      <a:latin typeface="Century Gothic" panose="020B0502020202020204" pitchFamily="34" charset="0"/>
                    </a:rPr>
                    <a:t>aktiveringsfunktion</a:t>
                  </a:r>
                  <a:endParaRPr lang="en-US" sz="1050" b="1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5065C94-0D09-CDB4-E586-63B1AC442E7F}"/>
                    </a:ext>
                  </a:extLst>
                </p:cNvPr>
                <p:cNvSpPr txBox="1"/>
                <p:nvPr/>
              </p:nvSpPr>
              <p:spPr>
                <a:xfrm>
                  <a:off x="11136665" y="4332446"/>
                  <a:ext cx="641350" cy="25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latin typeface="Century Gothic" panose="020B0502020202020204" pitchFamily="34" charset="0"/>
                    </a:rPr>
                    <a:t>output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A5DAF6F-9235-87B4-5234-10AA74FED8DD}"/>
                    </a:ext>
                  </a:extLst>
                </p:cNvPr>
                <p:cNvSpPr txBox="1"/>
                <p:nvPr/>
              </p:nvSpPr>
              <p:spPr>
                <a:xfrm>
                  <a:off x="6974037" y="3290819"/>
                  <a:ext cx="595205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latin typeface="Century Gothic" panose="020B0502020202020204" pitchFamily="34" charset="0"/>
                    </a:rPr>
                    <a:t>inputs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A13CA417-25B7-2A31-17ED-601913FB3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26430" y="3801536"/>
                  <a:ext cx="1455645" cy="5053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FBE98AAD-9D72-CC4E-2768-DE47CDDB6ED7}"/>
                    </a:ext>
                  </a:extLst>
                </p:cNvPr>
                <p:cNvCxnSpPr>
                  <a:cxnSpLocks/>
                  <a:endCxn id="10" idx="2"/>
                </p:cNvCxnSpPr>
                <p:nvPr/>
              </p:nvCxnSpPr>
              <p:spPr>
                <a:xfrm>
                  <a:off x="7526430" y="4450246"/>
                  <a:ext cx="1437773" cy="916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C9AF3282-4271-179C-40B8-3244E3F67A4E}"/>
                    </a:ext>
                  </a:extLst>
                </p:cNvPr>
                <p:cNvCxnSpPr>
                  <a:cxnSpLocks/>
                  <a:endCxn id="10" idx="3"/>
                </p:cNvCxnSpPr>
                <p:nvPr/>
              </p:nvCxnSpPr>
              <p:spPr>
                <a:xfrm flipV="1">
                  <a:off x="8307651" y="4764876"/>
                  <a:ext cx="783082" cy="51954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4C51970F-422C-B4BA-51D7-E1D00C6F4D06}"/>
                    </a:ext>
                  </a:extLst>
                </p:cNvPr>
                <p:cNvCxnSpPr/>
                <p:nvPr/>
              </p:nvCxnSpPr>
              <p:spPr>
                <a:xfrm>
                  <a:off x="10627086" y="4459394"/>
                  <a:ext cx="46001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9B3D17-81FE-B918-5821-0FCC43BC5032}"/>
                  </a:ext>
                </a:extLst>
              </p:cNvPr>
              <p:cNvSpPr txBox="1"/>
              <p:nvPr/>
            </p:nvSpPr>
            <p:spPr>
              <a:xfrm>
                <a:off x="7715854" y="5488478"/>
                <a:ext cx="934860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050" b="1" dirty="0" err="1">
                    <a:solidFill>
                      <a:srgbClr val="70AD47"/>
                    </a:solidFill>
                    <a:latin typeface="Century Gothic" panose="020B0502020202020204" pitchFamily="34" charset="0"/>
                  </a:rPr>
                  <a:t>parametrar</a:t>
                </a:r>
                <a:endParaRPr lang="en-US" sz="1050" b="1" dirty="0">
                  <a:solidFill>
                    <a:srgbClr val="70AD47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D2E4831-8717-1575-422C-527DFE2CF52E}"/>
                  </a:ext>
                </a:extLst>
              </p:cNvPr>
              <p:cNvSpPr/>
              <p:nvPr/>
            </p:nvSpPr>
            <p:spPr>
              <a:xfrm>
                <a:off x="8037500" y="3755373"/>
                <a:ext cx="246527" cy="1754326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DE6C405-8B9F-38A1-8019-10FF95BA147D}"/>
              </a:ext>
            </a:extLst>
          </p:cNvPr>
          <p:cNvSpPr txBox="1"/>
          <p:nvPr/>
        </p:nvSpPr>
        <p:spPr>
          <a:xfrm>
            <a:off x="809533" y="1269572"/>
            <a:ext cx="522962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Vi </a:t>
            </a:r>
            <a:r>
              <a:rPr lang="en-US" b="1" dirty="0" err="1">
                <a:latin typeface="Century Gothic" panose="020B0502020202020204" pitchFamily="34" charset="0"/>
              </a:rPr>
              <a:t>kan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också</a:t>
            </a:r>
            <a:r>
              <a:rPr lang="en-US" b="1" dirty="0">
                <a:latin typeface="Century Gothic" panose="020B0502020202020204" pitchFamily="34" charset="0"/>
              </a:rPr>
              <a:t> explicit </a:t>
            </a:r>
            <a:r>
              <a:rPr lang="en-US" b="1" dirty="0" err="1">
                <a:latin typeface="Century Gothic" panose="020B0502020202020204" pitchFamily="34" charset="0"/>
              </a:rPr>
              <a:t>kolla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upp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parametrarna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7AB180-ED68-4100-595D-2F6758D99016}"/>
              </a:ext>
            </a:extLst>
          </p:cNvPr>
          <p:cNvCxnSpPr>
            <a:cxnSpLocks/>
          </p:cNvCxnSpPr>
          <p:nvPr/>
        </p:nvCxnSpPr>
        <p:spPr>
          <a:xfrm>
            <a:off x="5568217" y="3814639"/>
            <a:ext cx="2704266" cy="493975"/>
          </a:xfrm>
          <a:prstGeom prst="straightConnector1">
            <a:avLst/>
          </a:prstGeom>
          <a:ln w="28575">
            <a:solidFill>
              <a:srgbClr val="70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A90B856-1C53-E62B-EF40-321D226A1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94" y="1664305"/>
            <a:ext cx="5067300" cy="26289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2CF85B-0470-6395-F74C-FE848A8F7FD2}"/>
              </a:ext>
            </a:extLst>
          </p:cNvPr>
          <p:cNvSpPr txBox="1"/>
          <p:nvPr/>
        </p:nvSpPr>
        <p:spPr>
          <a:xfrm>
            <a:off x="561433" y="5103674"/>
            <a:ext cx="6256990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Dessa </a:t>
            </a:r>
            <a:r>
              <a:rPr lang="en-US" b="1" dirty="0" err="1">
                <a:latin typeface="Century Gothic" panose="020B0502020202020204" pitchFamily="34" charset="0"/>
              </a:rPr>
              <a:t>parametrar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skapades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helt</a:t>
            </a:r>
            <a:r>
              <a:rPr lang="en-US" b="1" dirty="0">
                <a:latin typeface="Century Gothic" panose="020B0502020202020204" pitchFamily="34" charset="0"/>
              </a:rPr>
              <a:t> randomly (</a:t>
            </a:r>
            <a:r>
              <a:rPr lang="en-US" b="1" dirty="0" err="1">
                <a:latin typeface="Century Gothic" panose="020B0502020202020204" pitchFamily="34" charset="0"/>
              </a:rPr>
              <a:t>i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intervallet</a:t>
            </a:r>
            <a:r>
              <a:rPr lang="en-US" b="1" dirty="0">
                <a:latin typeface="Century Gothic" panose="020B0502020202020204" pitchFamily="34" charset="0"/>
              </a:rPr>
              <a:t> [-1,1]) av </a:t>
            </a:r>
            <a:r>
              <a:rPr lang="en-US" b="1" dirty="0" err="1">
                <a:latin typeface="Century Gothic" panose="020B0502020202020204" pitchFamily="34" charset="0"/>
              </a:rPr>
              <a:t>PyTorch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själv</a:t>
            </a:r>
            <a:r>
              <a:rPr lang="en-US" b="1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när</a:t>
            </a:r>
            <a:r>
              <a:rPr lang="en-US" b="1" dirty="0">
                <a:latin typeface="Century Gothic" panose="020B0502020202020204" pitchFamily="34" charset="0"/>
              </a:rPr>
              <a:t> du </a:t>
            </a:r>
            <a:r>
              <a:rPr lang="en-US" b="1" dirty="0" err="1">
                <a:latin typeface="Century Gothic" panose="020B0502020202020204" pitchFamily="34" charset="0"/>
              </a:rPr>
              <a:t>skapade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instansen</a:t>
            </a:r>
            <a:r>
              <a:rPr lang="en-US" b="1" dirty="0">
                <a:latin typeface="Century Gothic" panose="020B0502020202020204" pitchFamily="34" charset="0"/>
              </a:rPr>
              <a:t>.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33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3EDD9-5F77-E62F-2A1F-A6E68D6E3CB4}"/>
              </a:ext>
            </a:extLst>
          </p:cNvPr>
          <p:cNvSpPr txBox="1"/>
          <p:nvPr/>
        </p:nvSpPr>
        <p:spPr>
          <a:xfrm>
            <a:off x="504698" y="1093437"/>
            <a:ext cx="6415202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För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testa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vår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modell</a:t>
            </a:r>
            <a:r>
              <a:rPr lang="en-US" dirty="0">
                <a:latin typeface="Century Gothic" panose="020B0502020202020204" pitchFamily="34" charset="0"/>
              </a:rPr>
              <a:t> tar </a:t>
            </a:r>
            <a:r>
              <a:rPr lang="en-US" dirty="0" err="1">
                <a:latin typeface="Century Gothic" panose="020B0502020202020204" pitchFamily="34" charset="0"/>
              </a:rPr>
              <a:t>emot</a:t>
            </a:r>
            <a:r>
              <a:rPr lang="en-US" dirty="0">
                <a:latin typeface="Century Gothic" panose="020B0502020202020204" pitchFamily="34" charset="0"/>
              </a:rPr>
              <a:t> &amp; </a:t>
            </a:r>
            <a:r>
              <a:rPr lang="en-US" dirty="0" err="1">
                <a:latin typeface="Century Gothic" panose="020B0502020202020204" pitchFamily="34" charset="0"/>
              </a:rPr>
              <a:t>hanterar</a:t>
            </a:r>
            <a:r>
              <a:rPr lang="en-US" dirty="0">
                <a:latin typeface="Century Gothic" panose="020B0502020202020204" pitchFamily="34" charset="0"/>
              </a:rPr>
              <a:t> input </a:t>
            </a:r>
            <a:r>
              <a:rPr lang="en-US" dirty="0" err="1">
                <a:latin typeface="Century Gothic" panose="020B0502020202020204" pitchFamily="34" charset="0"/>
              </a:rPr>
              <a:t>kan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skapa</a:t>
            </a:r>
            <a:r>
              <a:rPr lang="en-US" dirty="0">
                <a:latin typeface="Century Gothic" panose="020B0502020202020204" pitchFamily="34" charset="0"/>
              </a:rPr>
              <a:t> lite random data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7FC12-31E4-BBBE-49DF-DEFF3E4F9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648" y="2109900"/>
            <a:ext cx="9252702" cy="24113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9BBF9A9-36BF-65EC-E426-980AAD62DC28}"/>
              </a:ext>
            </a:extLst>
          </p:cNvPr>
          <p:cNvSpPr txBox="1"/>
          <p:nvPr/>
        </p:nvSpPr>
        <p:spPr>
          <a:xfrm>
            <a:off x="504698" y="4848001"/>
            <a:ext cx="8021235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Vi ser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storleken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genererad</a:t>
            </a:r>
            <a:r>
              <a:rPr lang="en-US" dirty="0">
                <a:latin typeface="Century Gothic" panose="020B0502020202020204" pitchFamily="34" charset="0"/>
              </a:rPr>
              <a:t> data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korrekt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Vi ser </a:t>
            </a:r>
            <a:r>
              <a:rPr lang="en-US" dirty="0" err="1">
                <a:latin typeface="Century Gothic" panose="020B0502020202020204" pitchFamily="34" charset="0"/>
              </a:rPr>
              <a:t>också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vår</a:t>
            </a:r>
            <a:r>
              <a:rPr lang="en-US" dirty="0">
                <a:latin typeface="Century Gothic" panose="020B0502020202020204" pitchFamily="34" charset="0"/>
              </a:rPr>
              <a:t> output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enda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tal</a:t>
            </a:r>
            <a:r>
              <a:rPr lang="en-US" dirty="0">
                <a:latin typeface="Century Gothic" panose="020B0502020202020204" pitchFamily="34" charset="0"/>
              </a:rPr>
              <a:t>, precis </a:t>
            </a:r>
            <a:r>
              <a:rPr lang="en-US" dirty="0" err="1">
                <a:latin typeface="Century Gothic" panose="020B0502020202020204" pitchFamily="34" charset="0"/>
              </a:rPr>
              <a:t>vad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förväntar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oss</a:t>
            </a:r>
            <a:r>
              <a:rPr lang="en-US" dirty="0">
                <a:latin typeface="Century Gothic" panose="020B0502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11017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C8D390-85A0-DC2C-D554-6AF78696F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053" y="2101433"/>
            <a:ext cx="9251891" cy="3151299"/>
          </a:xfrm>
          <a:prstGeom prst="rect">
            <a:avLst/>
          </a:prstGeom>
        </p:spPr>
      </p:pic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5272099" y="61460"/>
            <a:ext cx="1647801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>
                <a:latin typeface="Century Gothic" panose="020B0502020202020204" pitchFamily="34" charset="0"/>
              </a:rPr>
              <a:t>Neuron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3EDD9-5F77-E62F-2A1F-A6E68D6E3CB4}"/>
              </a:ext>
            </a:extLst>
          </p:cNvPr>
          <p:cNvSpPr txBox="1"/>
          <p:nvPr/>
        </p:nvSpPr>
        <p:spPr>
          <a:xfrm>
            <a:off x="504698" y="1093437"/>
            <a:ext cx="6415202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 err="1">
                <a:latin typeface="Century Gothic" panose="020B0502020202020204" pitchFamily="34" charset="0"/>
              </a:rPr>
              <a:t>PyTorch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klarar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också</a:t>
            </a:r>
            <a:r>
              <a:rPr lang="en-US" b="1" dirty="0">
                <a:latin typeface="Century Gothic" panose="020B0502020202020204" pitchFamily="34" charset="0"/>
              </a:rPr>
              <a:t> av </a:t>
            </a:r>
            <a:r>
              <a:rPr lang="en-US" b="1" dirty="0" err="1">
                <a:latin typeface="Century Gothic" panose="020B0502020202020204" pitchFamily="34" charset="0"/>
              </a:rPr>
              <a:t>att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hantera</a:t>
            </a:r>
            <a:r>
              <a:rPr lang="en-US" b="1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i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teorin</a:t>
            </a:r>
            <a:r>
              <a:rPr lang="en-US" b="1" dirty="0">
                <a:latin typeface="Century Gothic" panose="020B0502020202020204" pitchFamily="34" charset="0"/>
              </a:rPr>
              <a:t>, </a:t>
            </a:r>
            <a:r>
              <a:rPr lang="en-US" b="1" dirty="0" err="1">
                <a:latin typeface="Century Gothic" panose="020B0502020202020204" pitchFamily="34" charset="0"/>
              </a:rPr>
              <a:t>oändligt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många</a:t>
            </a:r>
            <a:r>
              <a:rPr lang="en-US" b="1" dirty="0">
                <a:latin typeface="Century Gothic" panose="020B0502020202020204" pitchFamily="34" charset="0"/>
              </a:rPr>
              <a:t> training samples </a:t>
            </a:r>
            <a:r>
              <a:rPr lang="en-US" b="1" dirty="0" err="1">
                <a:latin typeface="Century Gothic" panose="020B0502020202020204" pitchFamily="34" charset="0"/>
              </a:rPr>
              <a:t>som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helst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samtidigt</a:t>
            </a:r>
            <a:r>
              <a:rPr lang="en-US" b="1" dirty="0">
                <a:latin typeface="Century Gothic" panose="020B0502020202020204" pitchFamily="34" charset="0"/>
              </a:rPr>
              <a:t>.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BBF9A9-36BF-65EC-E426-980AAD62DC28}"/>
              </a:ext>
            </a:extLst>
          </p:cNvPr>
          <p:cNvSpPr txBox="1"/>
          <p:nvPr/>
        </p:nvSpPr>
        <p:spPr>
          <a:xfrm>
            <a:off x="504698" y="5464399"/>
            <a:ext cx="8427635" cy="92333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Vi ser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storleken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genererad</a:t>
            </a:r>
            <a:r>
              <a:rPr lang="en-US" dirty="0">
                <a:latin typeface="Century Gothic" panose="020B0502020202020204" pitchFamily="34" charset="0"/>
              </a:rPr>
              <a:t> data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korrekt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Vi ser </a:t>
            </a:r>
            <a:r>
              <a:rPr lang="en-US" dirty="0" err="1">
                <a:latin typeface="Century Gothic" panose="020B0502020202020204" pitchFamily="34" charset="0"/>
              </a:rPr>
              <a:t>också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vår</a:t>
            </a:r>
            <a:r>
              <a:rPr lang="en-US" dirty="0">
                <a:latin typeface="Century Gothic" panose="020B0502020202020204" pitchFamily="34" charset="0"/>
              </a:rPr>
              <a:t> output </a:t>
            </a:r>
            <a:r>
              <a:rPr lang="en-US" dirty="0" err="1">
                <a:latin typeface="Century Gothic" panose="020B0502020202020204" pitchFamily="34" charset="0"/>
              </a:rPr>
              <a:t>är</a:t>
            </a:r>
            <a:r>
              <a:rPr lang="en-US" dirty="0">
                <a:latin typeface="Century Gothic" panose="020B0502020202020204" pitchFamily="34" charset="0"/>
              </a:rPr>
              <a:t> fem </a:t>
            </a:r>
            <a:r>
              <a:rPr lang="en-US" dirty="0" err="1">
                <a:latin typeface="Century Gothic" panose="020B0502020202020204" pitchFamily="34" charset="0"/>
              </a:rPr>
              <a:t>tal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ett</a:t>
            </a:r>
            <a:r>
              <a:rPr lang="en-US" dirty="0">
                <a:latin typeface="Century Gothic" panose="020B0502020202020204" pitchFamily="34" charset="0"/>
              </a:rPr>
              <a:t> för </a:t>
            </a:r>
            <a:r>
              <a:rPr lang="en-US" dirty="0" err="1">
                <a:latin typeface="Century Gothic" panose="020B0502020202020204" pitchFamily="34" charset="0"/>
              </a:rPr>
              <a:t>varje</a:t>
            </a:r>
            <a:r>
              <a:rPr lang="en-US" dirty="0">
                <a:latin typeface="Century Gothic" panose="020B0502020202020204" pitchFamily="34" charset="0"/>
              </a:rPr>
              <a:t> input </a:t>
            </a:r>
            <a:r>
              <a:rPr lang="en-US" dirty="0" err="1">
                <a:latin typeface="Century Gothic" panose="020B0502020202020204" pitchFamily="34" charset="0"/>
              </a:rPr>
              <a:t>som</a:t>
            </a:r>
            <a:r>
              <a:rPr lang="en-US" dirty="0">
                <a:latin typeface="Century Gothic" panose="020B0502020202020204" pitchFamily="34" charset="0"/>
              </a:rPr>
              <a:t> vi </a:t>
            </a:r>
            <a:r>
              <a:rPr lang="en-US" dirty="0" err="1">
                <a:latin typeface="Century Gothic" panose="020B0502020202020204" pitchFamily="34" charset="0"/>
              </a:rPr>
              <a:t>skickade</a:t>
            </a:r>
            <a:r>
              <a:rPr lang="en-US" dirty="0">
                <a:latin typeface="Century Gothic" panose="020B0502020202020204" pitchFamily="34" charset="0"/>
              </a:rPr>
              <a:t> in!</a:t>
            </a:r>
          </a:p>
        </p:txBody>
      </p:sp>
    </p:spTree>
    <p:extLst>
      <p:ext uri="{BB962C8B-B14F-4D97-AF65-F5344CB8AC3E}">
        <p14:creationId xmlns:p14="http://schemas.microsoft.com/office/powerpoint/2010/main" val="2298761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49101-889B-8FFD-1CD8-0D0344F3A0A3}"/>
              </a:ext>
            </a:extLst>
          </p:cNvPr>
          <p:cNvSpPr txBox="1"/>
          <p:nvPr/>
        </p:nvSpPr>
        <p:spPr>
          <a:xfrm>
            <a:off x="2830224" y="2759627"/>
            <a:ext cx="38237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Ta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fram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och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förbered</a:t>
            </a:r>
            <a:r>
              <a:rPr lang="en-US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entury Gothic" panose="020B0502020202020204" pitchFamily="34" charset="0"/>
              </a:rPr>
              <a:t>träningsdata</a:t>
            </a:r>
            <a:endParaRPr lang="en-US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Välj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lämplig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loss-</a:t>
            </a:r>
            <a:r>
              <a:rPr lang="en-US" dirty="0" err="1">
                <a:solidFill>
                  <a:srgbClr val="00B0F0"/>
                </a:solidFill>
                <a:latin typeface="Century Gothic" panose="020B0502020202020204" pitchFamily="34" charset="0"/>
              </a:rPr>
              <a:t>funktion</a:t>
            </a:r>
            <a:r>
              <a:rPr lang="en-US" dirty="0">
                <a:solidFill>
                  <a:srgbClr val="00B0F0"/>
                </a:solidFill>
                <a:latin typeface="Century Gothic" panose="020B0502020202020204" pitchFamily="34" charset="0"/>
              </a:rPr>
              <a:t> (MAE för regression).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Skapa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modell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PyTorch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Neuron den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här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gången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entury Gothic" panose="020B0502020202020204" pitchFamily="34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Träna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Century Gothic" panose="020B0502020202020204" pitchFamily="34" charset="0"/>
              </a:rPr>
              <a:t>modellen</a:t>
            </a:r>
            <a:r>
              <a:rPr lang="en-US" dirty="0">
                <a:solidFill>
                  <a:srgbClr val="7030A0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FAEA91BD-EBCC-1DB7-B0C5-5BD2BA0B430D}"/>
              </a:ext>
            </a:extLst>
          </p:cNvPr>
          <p:cNvSpPr txBox="1">
            <a:spLocks noChangeArrowheads="1"/>
          </p:cNvSpPr>
          <p:nvPr/>
        </p:nvSpPr>
        <p:spPr>
          <a:xfrm>
            <a:off x="4355066" y="107608"/>
            <a:ext cx="3481865" cy="661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SE" sz="3200" dirty="0" err="1">
                <a:latin typeface="Century Gothic" panose="020B0502020202020204" pitchFamily="34" charset="0"/>
              </a:rPr>
              <a:t>Dagens</a:t>
            </a:r>
            <a:r>
              <a:rPr lang="en-GB" altLang="en-SE" sz="3200" dirty="0">
                <a:latin typeface="Century Gothic" panose="020B0502020202020204" pitchFamily="34" charset="0"/>
              </a:rPr>
              <a:t> </a:t>
            </a:r>
            <a:r>
              <a:rPr lang="en-GB" altLang="en-SE" sz="3200" dirty="0" err="1">
                <a:latin typeface="Century Gothic" panose="020B0502020202020204" pitchFamily="34" charset="0"/>
              </a:rPr>
              <a:t>målbild</a:t>
            </a:r>
            <a:endParaRPr lang="en-GB" altLang="en-SE" sz="1600" dirty="0">
              <a:latin typeface="Century Gothic" panose="020B0502020202020204" pitchFamily="34" charset="0"/>
            </a:endParaRPr>
          </a:p>
          <a:p>
            <a:r>
              <a:rPr lang="en-GB" altLang="en-SE" sz="1600" dirty="0">
                <a:latin typeface="Century Gothic" panose="020B0502020202020204" pitchFamily="34" charset="0"/>
              </a:rPr>
              <a:t>			</a:t>
            </a:r>
            <a:endParaRPr lang="en-US" altLang="en-SE" sz="1800" dirty="0">
              <a:latin typeface="Century Gothic" panose="020B0502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528E459-2A2B-DB15-2926-5AB6253C08A2}"/>
              </a:ext>
            </a:extLst>
          </p:cNvPr>
          <p:cNvCxnSpPr>
            <a:cxnSpLocks/>
          </p:cNvCxnSpPr>
          <p:nvPr/>
        </p:nvCxnSpPr>
        <p:spPr>
          <a:xfrm flipH="1">
            <a:off x="7043484" y="5435607"/>
            <a:ext cx="1889098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39051F78-8221-DF47-230D-5424116BB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2433" y="2717800"/>
            <a:ext cx="711200" cy="711200"/>
          </a:xfrm>
          <a:prstGeom prst="rect">
            <a:avLst/>
          </a:prstGeom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6720EAA2-8018-1F26-2E52-CC46FE523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433" y="3479800"/>
            <a:ext cx="711200" cy="711200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2A0BA50A-82F0-D3E3-AF65-E14636F73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2433" y="4318007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31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481244" y="0"/>
            <a:ext cx="3229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Iterativ</a:t>
            </a:r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white circle with black text&#10;&#10;Description automatically generated">
            <a:extLst>
              <a:ext uri="{FF2B5EF4-FFF2-40B4-BE49-F238E27FC236}">
                <a16:creationId xmlns:a16="http://schemas.microsoft.com/office/drawing/2014/main" id="{FED26E9F-760A-4054-4781-34E920C2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806" y="1806703"/>
            <a:ext cx="3377372" cy="1564615"/>
          </a:xfrm>
          <a:prstGeom prst="rect">
            <a:avLst/>
          </a:prstGeom>
        </p:spPr>
      </p:pic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05D041EB-190B-3A96-99FC-941B4606B1AC}"/>
              </a:ext>
            </a:extLst>
          </p:cNvPr>
          <p:cNvSpPr/>
          <p:nvPr/>
        </p:nvSpPr>
        <p:spPr>
          <a:xfrm>
            <a:off x="847046" y="2087131"/>
            <a:ext cx="960449" cy="1058665"/>
          </a:xfrm>
          <a:prstGeom prst="flowChartMagneticDisk">
            <a:avLst/>
          </a:prstGeom>
          <a:solidFill>
            <a:srgbClr val="4472C4"/>
          </a:solidFill>
          <a:effectLst>
            <a:outerShdw blurRad="1397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entury Gothic" panose="020B0502020202020204" pitchFamily="34" charset="0"/>
              </a:rPr>
              <a:t>Training dataset</a:t>
            </a:r>
            <a:endParaRPr lang="en-SE" sz="14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B1164-90EB-162D-963D-47896D83B662}"/>
              </a:ext>
            </a:extLst>
          </p:cNvPr>
          <p:cNvSpPr txBox="1"/>
          <p:nvPr/>
        </p:nvSpPr>
        <p:spPr>
          <a:xfrm>
            <a:off x="220521" y="3640815"/>
            <a:ext cx="2319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1.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Ta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par training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2032A-C40A-07FF-0B48-80453FB278C1}"/>
              </a:ext>
            </a:extLst>
          </p:cNvPr>
          <p:cNvSpPr txBox="1"/>
          <p:nvPr/>
        </p:nvSpPr>
        <p:spPr>
          <a:xfrm>
            <a:off x="3487734" y="3663951"/>
            <a:ext cx="2779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2.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samla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F256C-D9EF-7D8F-C075-4FC8EAF9F43E}"/>
              </a:ext>
            </a:extLst>
          </p:cNvPr>
          <p:cNvSpPr txBox="1"/>
          <p:nvPr/>
        </p:nvSpPr>
        <p:spPr>
          <a:xfrm>
            <a:off x="3734069" y="3271290"/>
            <a:ext cx="9689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b="1" dirty="0" err="1">
                <a:latin typeface="Century Gothic" panose="020B0502020202020204" pitchFamily="34" charset="0"/>
              </a:rPr>
              <a:t>parametrar</a:t>
            </a:r>
            <a:endParaRPr lang="en-US" sz="700" b="1" dirty="0">
              <a:latin typeface="Century Gothic" panose="020B0502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298D3-1B7D-97FB-BD44-37E90D2BD36D}"/>
              </a:ext>
            </a:extLst>
          </p:cNvPr>
          <p:cNvCxnSpPr>
            <a:cxnSpLocks/>
          </p:cNvCxnSpPr>
          <p:nvPr/>
        </p:nvCxnSpPr>
        <p:spPr>
          <a:xfrm>
            <a:off x="2256674" y="264669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B950A2-1B38-82C3-22BE-60F3814F4527}"/>
              </a:ext>
            </a:extLst>
          </p:cNvPr>
          <p:cNvSpPr txBox="1"/>
          <p:nvPr/>
        </p:nvSpPr>
        <p:spPr>
          <a:xfrm>
            <a:off x="7314037" y="3636806"/>
            <a:ext cx="2376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3.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 med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loss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8C5D3-0702-7F12-7B1A-117FFB44B970}"/>
              </a:ext>
            </a:extLst>
          </p:cNvPr>
          <p:cNvCxnSpPr>
            <a:cxnSpLocks/>
          </p:cNvCxnSpPr>
          <p:nvPr/>
        </p:nvCxnSpPr>
        <p:spPr>
          <a:xfrm>
            <a:off x="6639047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8F2770-F8BF-1B1C-FA0E-FDEB1FF785C6}"/>
              </a:ext>
            </a:extLst>
          </p:cNvPr>
          <p:cNvCxnSpPr>
            <a:cxnSpLocks/>
          </p:cNvCxnSpPr>
          <p:nvPr/>
        </p:nvCxnSpPr>
        <p:spPr>
          <a:xfrm>
            <a:off x="9269401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D56A2C-6E03-F9FD-C1CC-10BB7760FE7C}"/>
              </a:ext>
            </a:extLst>
          </p:cNvPr>
          <p:cNvSpPr txBox="1"/>
          <p:nvPr/>
        </p:nvSpPr>
        <p:spPr>
          <a:xfrm>
            <a:off x="9754391" y="3663951"/>
            <a:ext cx="2572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4.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för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hitta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nästa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bättre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)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värden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43399F-22D5-BBAE-14D1-C54250E0BA16}"/>
              </a:ext>
            </a:extLst>
          </p:cNvPr>
          <p:cNvSpPr txBox="1"/>
          <p:nvPr/>
        </p:nvSpPr>
        <p:spPr>
          <a:xfrm>
            <a:off x="470040" y="4835905"/>
            <a:ext cx="6987525" cy="160043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Detta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viktigt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!</a:t>
            </a:r>
          </a:p>
          <a:p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endast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in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par (randomly chosen) training samples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åt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gången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uppdaterar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efter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varje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sådan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iteration.</a:t>
            </a:r>
          </a:p>
          <a:p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Anledningen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för det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b.la. 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det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visar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sig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hårdvarumässigt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mest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effektivt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göra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E7AB2-6DDE-C1EE-6DFC-A6B2E6A3F501}"/>
              </a:ext>
            </a:extLst>
          </p:cNvPr>
          <p:cNvSpPr/>
          <p:nvPr/>
        </p:nvSpPr>
        <p:spPr>
          <a:xfrm>
            <a:off x="220521" y="1806703"/>
            <a:ext cx="2376365" cy="23189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D2EDB9-3DE2-5BDB-F895-5CE69A14509E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>
            <a:off x="1408704" y="4125615"/>
            <a:ext cx="2555099" cy="71029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F68FC0-31EB-79EB-AA9E-FE06A13B07C8}"/>
              </a:ext>
            </a:extLst>
          </p:cNvPr>
          <p:cNvSpPr txBox="1"/>
          <p:nvPr/>
        </p:nvSpPr>
        <p:spPr>
          <a:xfrm>
            <a:off x="7369326" y="2502211"/>
            <a:ext cx="1976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err="1">
                <a:latin typeface="Century Gothic" panose="020B0502020202020204" pitchFamily="34" charset="0"/>
              </a:rPr>
              <a:t>loss_function</a:t>
            </a:r>
            <a:r>
              <a:rPr lang="en-GB" sz="1000" b="1" dirty="0">
                <a:latin typeface="Century Gothic" panose="020B0502020202020204" pitchFamily="34" charset="0"/>
              </a:rPr>
              <a:t>(</a:t>
            </a:r>
            <a:r>
              <a:rPr lang="en-GB" sz="1000" b="1" dirty="0" err="1">
                <a:latin typeface="Century Gothic" panose="020B0502020202020204" pitchFamily="34" charset="0"/>
              </a:rPr>
              <a:t>y_true</a:t>
            </a:r>
            <a:r>
              <a:rPr lang="en-GB" sz="1000" b="1" dirty="0">
                <a:latin typeface="Century Gothic" panose="020B0502020202020204" pitchFamily="34" charset="0"/>
              </a:rPr>
              <a:t>, </a:t>
            </a:r>
            <a:r>
              <a:rPr lang="en-GB" sz="1000" b="1" dirty="0" err="1">
                <a:latin typeface="Century Gothic" panose="020B0502020202020204" pitchFamily="34" charset="0"/>
              </a:rPr>
              <a:t>y_pred</a:t>
            </a:r>
            <a:r>
              <a:rPr lang="en-GB" sz="1000" b="1" dirty="0">
                <a:latin typeface="Century Gothic" panose="020B0502020202020204" pitchFamily="34" charset="0"/>
              </a:rPr>
              <a:t>)</a:t>
            </a:r>
            <a:endParaRPr lang="en-SE" sz="1000" b="1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14FA97-FC95-D2C8-6D54-007C08E16A8D}"/>
                  </a:ext>
                </a:extLst>
              </p:cNvPr>
              <p:cNvSpPr txBox="1"/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E" sz="105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14FA97-FC95-D2C8-6D54-007C08E16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blipFill>
                <a:blip r:embed="rId3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59A8C4-F811-8855-8899-3FED3DF0147F}"/>
                  </a:ext>
                </a:extLst>
              </p:cNvPr>
              <p:cNvSpPr txBox="1"/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59A8C4-F811-8855-8899-3FED3DF01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blipFill>
                <a:blip r:embed="rId4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EB2035-0275-FC11-FBB1-E4CD1922500D}"/>
                  </a:ext>
                </a:extLst>
              </p:cNvPr>
              <p:cNvSpPr txBox="1"/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EB2035-0275-FC11-FBB1-E4CD19225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blipFill>
                <a:blip r:embed="rId5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2CFE85-871E-D2F8-0F0F-8A5520DFB072}"/>
                  </a:ext>
                </a:extLst>
              </p:cNvPr>
              <p:cNvSpPr txBox="1"/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105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2CFE85-871E-D2F8-0F0F-8A5520DFB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blipFill>
                <a:blip r:embed="rId6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522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481244" y="0"/>
            <a:ext cx="3229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Iterativ</a:t>
            </a:r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white circle with black text&#10;&#10;Description automatically generated">
            <a:extLst>
              <a:ext uri="{FF2B5EF4-FFF2-40B4-BE49-F238E27FC236}">
                <a16:creationId xmlns:a16="http://schemas.microsoft.com/office/drawing/2014/main" id="{FED26E9F-760A-4054-4781-34E920C2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806" y="1806703"/>
            <a:ext cx="3377372" cy="1564615"/>
          </a:xfrm>
          <a:prstGeom prst="rect">
            <a:avLst/>
          </a:prstGeom>
        </p:spPr>
      </p:pic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05D041EB-190B-3A96-99FC-941B4606B1AC}"/>
              </a:ext>
            </a:extLst>
          </p:cNvPr>
          <p:cNvSpPr/>
          <p:nvPr/>
        </p:nvSpPr>
        <p:spPr>
          <a:xfrm>
            <a:off x="847046" y="2087131"/>
            <a:ext cx="960449" cy="1058665"/>
          </a:xfrm>
          <a:prstGeom prst="flowChartMagneticDisk">
            <a:avLst/>
          </a:prstGeom>
          <a:solidFill>
            <a:srgbClr val="4472C4"/>
          </a:solidFill>
          <a:effectLst>
            <a:outerShdw blurRad="1397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entury Gothic" panose="020B0502020202020204" pitchFamily="34" charset="0"/>
              </a:rPr>
              <a:t>Training dataset</a:t>
            </a:r>
            <a:endParaRPr lang="en-SE" sz="14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B1164-90EB-162D-963D-47896D83B662}"/>
              </a:ext>
            </a:extLst>
          </p:cNvPr>
          <p:cNvSpPr txBox="1"/>
          <p:nvPr/>
        </p:nvSpPr>
        <p:spPr>
          <a:xfrm>
            <a:off x="220521" y="3640815"/>
            <a:ext cx="2319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1.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Ta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par training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2032A-C40A-07FF-0B48-80453FB278C1}"/>
              </a:ext>
            </a:extLst>
          </p:cNvPr>
          <p:cNvSpPr txBox="1"/>
          <p:nvPr/>
        </p:nvSpPr>
        <p:spPr>
          <a:xfrm>
            <a:off x="3487734" y="3663951"/>
            <a:ext cx="2779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2.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samla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F256C-D9EF-7D8F-C075-4FC8EAF9F43E}"/>
              </a:ext>
            </a:extLst>
          </p:cNvPr>
          <p:cNvSpPr txBox="1"/>
          <p:nvPr/>
        </p:nvSpPr>
        <p:spPr>
          <a:xfrm>
            <a:off x="3734069" y="3271290"/>
            <a:ext cx="9689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b="1" dirty="0" err="1">
                <a:latin typeface="Century Gothic" panose="020B0502020202020204" pitchFamily="34" charset="0"/>
              </a:rPr>
              <a:t>parametrar</a:t>
            </a:r>
            <a:endParaRPr lang="en-US" sz="700" b="1" dirty="0">
              <a:latin typeface="Century Gothic" panose="020B0502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298D3-1B7D-97FB-BD44-37E90D2BD36D}"/>
              </a:ext>
            </a:extLst>
          </p:cNvPr>
          <p:cNvCxnSpPr>
            <a:cxnSpLocks/>
          </p:cNvCxnSpPr>
          <p:nvPr/>
        </p:nvCxnSpPr>
        <p:spPr>
          <a:xfrm>
            <a:off x="2256674" y="264669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B950A2-1B38-82C3-22BE-60F3814F4527}"/>
              </a:ext>
            </a:extLst>
          </p:cNvPr>
          <p:cNvSpPr txBox="1"/>
          <p:nvPr/>
        </p:nvSpPr>
        <p:spPr>
          <a:xfrm>
            <a:off x="7314037" y="3636806"/>
            <a:ext cx="2376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3.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 med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loss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8C5D3-0702-7F12-7B1A-117FFB44B970}"/>
              </a:ext>
            </a:extLst>
          </p:cNvPr>
          <p:cNvCxnSpPr>
            <a:cxnSpLocks/>
          </p:cNvCxnSpPr>
          <p:nvPr/>
        </p:nvCxnSpPr>
        <p:spPr>
          <a:xfrm>
            <a:off x="6639047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8F2770-F8BF-1B1C-FA0E-FDEB1FF785C6}"/>
              </a:ext>
            </a:extLst>
          </p:cNvPr>
          <p:cNvCxnSpPr>
            <a:cxnSpLocks/>
          </p:cNvCxnSpPr>
          <p:nvPr/>
        </p:nvCxnSpPr>
        <p:spPr>
          <a:xfrm>
            <a:off x="9269401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D56A2C-6E03-F9FD-C1CC-10BB7760FE7C}"/>
              </a:ext>
            </a:extLst>
          </p:cNvPr>
          <p:cNvSpPr txBox="1"/>
          <p:nvPr/>
        </p:nvSpPr>
        <p:spPr>
          <a:xfrm>
            <a:off x="9754391" y="3663951"/>
            <a:ext cx="2572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4.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för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hitta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nästa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bättre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)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värden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43399F-22D5-BBAE-14D1-C54250E0BA16}"/>
              </a:ext>
            </a:extLst>
          </p:cNvPr>
          <p:cNvSpPr txBox="1"/>
          <p:nvPr/>
        </p:nvSpPr>
        <p:spPr>
          <a:xfrm>
            <a:off x="1498481" y="4948982"/>
            <a:ext cx="8255910" cy="523220"/>
          </a:xfrm>
          <a:prstGeom prst="rect">
            <a:avLst/>
          </a:prstGeom>
          <a:noFill/>
          <a:ln w="12700">
            <a:solidFill>
              <a:srgbClr val="01FF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Detta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gjorde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bokstavligen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föregående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slides.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enklaste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sett in de in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enligt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tidigare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Outputen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blir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prediktions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dvs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E7AB2-6DDE-C1EE-6DFC-A6B2E6A3F501}"/>
              </a:ext>
            </a:extLst>
          </p:cNvPr>
          <p:cNvSpPr/>
          <p:nvPr/>
        </p:nvSpPr>
        <p:spPr>
          <a:xfrm>
            <a:off x="2540016" y="1772202"/>
            <a:ext cx="4420277" cy="2439106"/>
          </a:xfrm>
          <a:prstGeom prst="rect">
            <a:avLst/>
          </a:prstGeom>
          <a:noFill/>
          <a:ln>
            <a:solidFill>
              <a:srgbClr val="01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D2EDB9-3DE2-5BDB-F895-5CE69A14509E}"/>
              </a:ext>
            </a:extLst>
          </p:cNvPr>
          <p:cNvCxnSpPr>
            <a:cxnSpLocks/>
          </p:cNvCxnSpPr>
          <p:nvPr/>
        </p:nvCxnSpPr>
        <p:spPr>
          <a:xfrm>
            <a:off x="4702976" y="4211308"/>
            <a:ext cx="876281" cy="737674"/>
          </a:xfrm>
          <a:prstGeom prst="line">
            <a:avLst/>
          </a:prstGeom>
          <a:ln>
            <a:solidFill>
              <a:srgbClr val="01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FC53E7-6F1F-F248-8FA6-947754FE66FB}"/>
              </a:ext>
            </a:extLst>
          </p:cNvPr>
          <p:cNvSpPr txBox="1"/>
          <p:nvPr/>
        </p:nvSpPr>
        <p:spPr>
          <a:xfrm>
            <a:off x="7369326" y="2502211"/>
            <a:ext cx="1976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err="1">
                <a:latin typeface="Century Gothic" panose="020B0502020202020204" pitchFamily="34" charset="0"/>
              </a:rPr>
              <a:t>loss_function</a:t>
            </a:r>
            <a:r>
              <a:rPr lang="en-GB" sz="1000" b="1" dirty="0">
                <a:latin typeface="Century Gothic" panose="020B0502020202020204" pitchFamily="34" charset="0"/>
              </a:rPr>
              <a:t>(</a:t>
            </a:r>
            <a:r>
              <a:rPr lang="en-GB" sz="1000" b="1" dirty="0" err="1">
                <a:latin typeface="Century Gothic" panose="020B0502020202020204" pitchFamily="34" charset="0"/>
              </a:rPr>
              <a:t>y_true</a:t>
            </a:r>
            <a:r>
              <a:rPr lang="en-GB" sz="1000" b="1" dirty="0">
                <a:latin typeface="Century Gothic" panose="020B0502020202020204" pitchFamily="34" charset="0"/>
              </a:rPr>
              <a:t>, </a:t>
            </a:r>
            <a:r>
              <a:rPr lang="en-GB" sz="1000" b="1" dirty="0" err="1">
                <a:latin typeface="Century Gothic" panose="020B0502020202020204" pitchFamily="34" charset="0"/>
              </a:rPr>
              <a:t>y_pred</a:t>
            </a:r>
            <a:r>
              <a:rPr lang="en-GB" sz="1000" b="1" dirty="0">
                <a:latin typeface="Century Gothic" panose="020B0502020202020204" pitchFamily="34" charset="0"/>
              </a:rPr>
              <a:t>)</a:t>
            </a:r>
            <a:endParaRPr lang="en-SE" sz="1000" b="1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FA1065-D08B-D082-0CE9-34CD3C04A6EB}"/>
                  </a:ext>
                </a:extLst>
              </p:cNvPr>
              <p:cNvSpPr txBox="1"/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E" sz="105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FA1065-D08B-D082-0CE9-34CD3C04A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blipFill>
                <a:blip r:embed="rId3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93DC5E-C8C9-43ED-7D14-A46B55FF4490}"/>
                  </a:ext>
                </a:extLst>
              </p:cNvPr>
              <p:cNvSpPr txBox="1"/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93DC5E-C8C9-43ED-7D14-A46B55FF4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blipFill>
                <a:blip r:embed="rId4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5CBC34-14AB-7264-FB7B-F5FC01AB55F4}"/>
                  </a:ext>
                </a:extLst>
              </p:cNvPr>
              <p:cNvSpPr txBox="1"/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5CBC34-14AB-7264-FB7B-F5FC01AB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blipFill>
                <a:blip r:embed="rId5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9ED998-9939-5B76-C619-FBB975C4ACEC}"/>
                  </a:ext>
                </a:extLst>
              </p:cNvPr>
              <p:cNvSpPr txBox="1"/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105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9ED998-9939-5B76-C619-FBB975C4A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blipFill>
                <a:blip r:embed="rId6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2042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481244" y="0"/>
            <a:ext cx="3229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Iterativ</a:t>
            </a:r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white circle with black text&#10;&#10;Description automatically generated">
            <a:extLst>
              <a:ext uri="{FF2B5EF4-FFF2-40B4-BE49-F238E27FC236}">
                <a16:creationId xmlns:a16="http://schemas.microsoft.com/office/drawing/2014/main" id="{FED26E9F-760A-4054-4781-34E920C2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806" y="1806703"/>
            <a:ext cx="3377372" cy="1564615"/>
          </a:xfrm>
          <a:prstGeom prst="rect">
            <a:avLst/>
          </a:prstGeom>
        </p:spPr>
      </p:pic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05D041EB-190B-3A96-99FC-941B4606B1AC}"/>
              </a:ext>
            </a:extLst>
          </p:cNvPr>
          <p:cNvSpPr/>
          <p:nvPr/>
        </p:nvSpPr>
        <p:spPr>
          <a:xfrm>
            <a:off x="847046" y="2087131"/>
            <a:ext cx="960449" cy="1058665"/>
          </a:xfrm>
          <a:prstGeom prst="flowChartMagneticDisk">
            <a:avLst/>
          </a:prstGeom>
          <a:solidFill>
            <a:srgbClr val="4472C4"/>
          </a:solidFill>
          <a:effectLst>
            <a:outerShdw blurRad="1397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entury Gothic" panose="020B0502020202020204" pitchFamily="34" charset="0"/>
              </a:rPr>
              <a:t>Training dataset</a:t>
            </a:r>
            <a:endParaRPr lang="en-SE" sz="14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B1164-90EB-162D-963D-47896D83B662}"/>
              </a:ext>
            </a:extLst>
          </p:cNvPr>
          <p:cNvSpPr txBox="1"/>
          <p:nvPr/>
        </p:nvSpPr>
        <p:spPr>
          <a:xfrm>
            <a:off x="220521" y="3640815"/>
            <a:ext cx="2319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1.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Ta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par training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2032A-C40A-07FF-0B48-80453FB278C1}"/>
              </a:ext>
            </a:extLst>
          </p:cNvPr>
          <p:cNvSpPr txBox="1"/>
          <p:nvPr/>
        </p:nvSpPr>
        <p:spPr>
          <a:xfrm>
            <a:off x="3487734" y="3663951"/>
            <a:ext cx="2779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2.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samla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F256C-D9EF-7D8F-C075-4FC8EAF9F43E}"/>
              </a:ext>
            </a:extLst>
          </p:cNvPr>
          <p:cNvSpPr txBox="1"/>
          <p:nvPr/>
        </p:nvSpPr>
        <p:spPr>
          <a:xfrm>
            <a:off x="3734069" y="3271290"/>
            <a:ext cx="9689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b="1" dirty="0" err="1">
                <a:latin typeface="Century Gothic" panose="020B0502020202020204" pitchFamily="34" charset="0"/>
              </a:rPr>
              <a:t>parametrar</a:t>
            </a:r>
            <a:endParaRPr lang="en-US" sz="700" b="1" dirty="0">
              <a:latin typeface="Century Gothic" panose="020B0502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298D3-1B7D-97FB-BD44-37E90D2BD36D}"/>
              </a:ext>
            </a:extLst>
          </p:cNvPr>
          <p:cNvCxnSpPr>
            <a:cxnSpLocks/>
          </p:cNvCxnSpPr>
          <p:nvPr/>
        </p:nvCxnSpPr>
        <p:spPr>
          <a:xfrm>
            <a:off x="2256674" y="264669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B950A2-1B38-82C3-22BE-60F3814F4527}"/>
              </a:ext>
            </a:extLst>
          </p:cNvPr>
          <p:cNvSpPr txBox="1"/>
          <p:nvPr/>
        </p:nvSpPr>
        <p:spPr>
          <a:xfrm>
            <a:off x="7314037" y="3636806"/>
            <a:ext cx="2376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3.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 med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loss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8C5D3-0702-7F12-7B1A-117FFB44B970}"/>
              </a:ext>
            </a:extLst>
          </p:cNvPr>
          <p:cNvCxnSpPr>
            <a:cxnSpLocks/>
          </p:cNvCxnSpPr>
          <p:nvPr/>
        </p:nvCxnSpPr>
        <p:spPr>
          <a:xfrm>
            <a:off x="6639047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8F2770-F8BF-1B1C-FA0E-FDEB1FF785C6}"/>
              </a:ext>
            </a:extLst>
          </p:cNvPr>
          <p:cNvCxnSpPr>
            <a:cxnSpLocks/>
          </p:cNvCxnSpPr>
          <p:nvPr/>
        </p:nvCxnSpPr>
        <p:spPr>
          <a:xfrm>
            <a:off x="9269401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D56A2C-6E03-F9FD-C1CC-10BB7760FE7C}"/>
              </a:ext>
            </a:extLst>
          </p:cNvPr>
          <p:cNvSpPr txBox="1"/>
          <p:nvPr/>
        </p:nvSpPr>
        <p:spPr>
          <a:xfrm>
            <a:off x="9754391" y="3663951"/>
            <a:ext cx="2572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4.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för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hitta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nästa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bättre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)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värden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43399F-22D5-BBAE-14D1-C54250E0BA16}"/>
              </a:ext>
            </a:extLst>
          </p:cNvPr>
          <p:cNvSpPr txBox="1"/>
          <p:nvPr/>
        </p:nvSpPr>
        <p:spPr>
          <a:xfrm>
            <a:off x="3646257" y="4948982"/>
            <a:ext cx="5870845" cy="523220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lossen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enda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rad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kod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 Super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simplelt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detta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också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valde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ju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vad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loss_function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skulle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tidigare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(MAE).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D2EDB9-3DE2-5BDB-F895-5CE69A14509E}"/>
              </a:ext>
            </a:extLst>
          </p:cNvPr>
          <p:cNvCxnSpPr>
            <a:cxnSpLocks/>
            <a:stCxn id="25" idx="2"/>
            <a:endCxn id="20" idx="0"/>
          </p:cNvCxnSpPr>
          <p:nvPr/>
        </p:nvCxnSpPr>
        <p:spPr>
          <a:xfrm flipH="1">
            <a:off x="6581680" y="4211308"/>
            <a:ext cx="1684552" cy="73767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FC53E7-6F1F-F248-8FA6-947754FE66FB}"/>
              </a:ext>
            </a:extLst>
          </p:cNvPr>
          <p:cNvSpPr txBox="1"/>
          <p:nvPr/>
        </p:nvSpPr>
        <p:spPr>
          <a:xfrm>
            <a:off x="7369326" y="2502211"/>
            <a:ext cx="1976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err="1">
                <a:latin typeface="Century Gothic" panose="020B0502020202020204" pitchFamily="34" charset="0"/>
              </a:rPr>
              <a:t>loss_function</a:t>
            </a:r>
            <a:r>
              <a:rPr lang="en-GB" sz="1000" b="1" dirty="0">
                <a:latin typeface="Century Gothic" panose="020B0502020202020204" pitchFamily="34" charset="0"/>
              </a:rPr>
              <a:t>(</a:t>
            </a:r>
            <a:r>
              <a:rPr lang="en-GB" sz="1000" b="1" dirty="0" err="1">
                <a:latin typeface="Century Gothic" panose="020B0502020202020204" pitchFamily="34" charset="0"/>
              </a:rPr>
              <a:t>y_true</a:t>
            </a:r>
            <a:r>
              <a:rPr lang="en-GB" sz="1000" b="1" dirty="0">
                <a:latin typeface="Century Gothic" panose="020B0502020202020204" pitchFamily="34" charset="0"/>
              </a:rPr>
              <a:t>, </a:t>
            </a:r>
            <a:r>
              <a:rPr lang="en-GB" sz="1000" b="1" dirty="0" err="1">
                <a:latin typeface="Century Gothic" panose="020B0502020202020204" pitchFamily="34" charset="0"/>
              </a:rPr>
              <a:t>y_pred</a:t>
            </a:r>
            <a:r>
              <a:rPr lang="en-GB" sz="1000" b="1" dirty="0">
                <a:latin typeface="Century Gothic" panose="020B0502020202020204" pitchFamily="34" charset="0"/>
              </a:rPr>
              <a:t>)</a:t>
            </a:r>
            <a:endParaRPr lang="en-SE" sz="1000" b="1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E47414-3512-2A34-85D7-09C7F423A398}"/>
              </a:ext>
            </a:extLst>
          </p:cNvPr>
          <p:cNvSpPr/>
          <p:nvPr/>
        </p:nvSpPr>
        <p:spPr>
          <a:xfrm>
            <a:off x="6934807" y="1772202"/>
            <a:ext cx="2662850" cy="243910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897E7D-EA06-0367-596F-DE10071D22FB}"/>
                  </a:ext>
                </a:extLst>
              </p:cNvPr>
              <p:cNvSpPr txBox="1"/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E" sz="105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897E7D-EA06-0367-596F-DE10071D2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blipFill>
                <a:blip r:embed="rId4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00965D-FF5A-B00F-BED6-7CCB63744D2A}"/>
                  </a:ext>
                </a:extLst>
              </p:cNvPr>
              <p:cNvSpPr txBox="1"/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00965D-FF5A-B00F-BED6-7CCB63744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blipFill>
                <a:blip r:embed="rId5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A9901E-2EF8-7291-2A35-0909295B26DC}"/>
                  </a:ext>
                </a:extLst>
              </p:cNvPr>
              <p:cNvSpPr txBox="1"/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A9901E-2EF8-7291-2A35-0909295B2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blipFill>
                <a:blip r:embed="rId6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9FB6AA-2A05-87B0-BABA-25AFB4D13B3F}"/>
                  </a:ext>
                </a:extLst>
              </p:cNvPr>
              <p:cNvSpPr txBox="1"/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105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9FB6AA-2A05-87B0-BABA-25AFB4D13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blipFill>
                <a:blip r:embed="rId7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AA6D909-F2E6-AFE9-824A-32D3A37849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3359" y="5701424"/>
            <a:ext cx="42195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4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481244" y="0"/>
            <a:ext cx="3229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Iterativ</a:t>
            </a:r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white circle with black text&#10;&#10;Description automatically generated">
            <a:extLst>
              <a:ext uri="{FF2B5EF4-FFF2-40B4-BE49-F238E27FC236}">
                <a16:creationId xmlns:a16="http://schemas.microsoft.com/office/drawing/2014/main" id="{FED26E9F-760A-4054-4781-34E920C2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806" y="1806703"/>
            <a:ext cx="3377372" cy="1564615"/>
          </a:xfrm>
          <a:prstGeom prst="rect">
            <a:avLst/>
          </a:prstGeom>
        </p:spPr>
      </p:pic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05D041EB-190B-3A96-99FC-941B4606B1AC}"/>
              </a:ext>
            </a:extLst>
          </p:cNvPr>
          <p:cNvSpPr/>
          <p:nvPr/>
        </p:nvSpPr>
        <p:spPr>
          <a:xfrm>
            <a:off x="847046" y="2087131"/>
            <a:ext cx="960449" cy="1058665"/>
          </a:xfrm>
          <a:prstGeom prst="flowChartMagneticDisk">
            <a:avLst/>
          </a:prstGeom>
          <a:solidFill>
            <a:srgbClr val="4472C4"/>
          </a:solidFill>
          <a:effectLst>
            <a:outerShdw blurRad="1397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entury Gothic" panose="020B0502020202020204" pitchFamily="34" charset="0"/>
              </a:rPr>
              <a:t>Training dataset</a:t>
            </a:r>
            <a:endParaRPr lang="en-SE" sz="14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B1164-90EB-162D-963D-47896D83B662}"/>
              </a:ext>
            </a:extLst>
          </p:cNvPr>
          <p:cNvSpPr txBox="1"/>
          <p:nvPr/>
        </p:nvSpPr>
        <p:spPr>
          <a:xfrm>
            <a:off x="220521" y="3640815"/>
            <a:ext cx="2319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1.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Ta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par training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2032A-C40A-07FF-0B48-80453FB278C1}"/>
              </a:ext>
            </a:extLst>
          </p:cNvPr>
          <p:cNvSpPr txBox="1"/>
          <p:nvPr/>
        </p:nvSpPr>
        <p:spPr>
          <a:xfrm>
            <a:off x="3487734" y="3663951"/>
            <a:ext cx="2779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2.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samla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F256C-D9EF-7D8F-C075-4FC8EAF9F43E}"/>
              </a:ext>
            </a:extLst>
          </p:cNvPr>
          <p:cNvSpPr txBox="1"/>
          <p:nvPr/>
        </p:nvSpPr>
        <p:spPr>
          <a:xfrm>
            <a:off x="3734069" y="3271290"/>
            <a:ext cx="9689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b="1" dirty="0" err="1">
                <a:latin typeface="Century Gothic" panose="020B0502020202020204" pitchFamily="34" charset="0"/>
              </a:rPr>
              <a:t>parametrar</a:t>
            </a:r>
            <a:endParaRPr lang="en-US" sz="700" b="1" dirty="0">
              <a:latin typeface="Century Gothic" panose="020B0502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298D3-1B7D-97FB-BD44-37E90D2BD36D}"/>
              </a:ext>
            </a:extLst>
          </p:cNvPr>
          <p:cNvCxnSpPr>
            <a:cxnSpLocks/>
          </p:cNvCxnSpPr>
          <p:nvPr/>
        </p:nvCxnSpPr>
        <p:spPr>
          <a:xfrm>
            <a:off x="2256674" y="264669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B950A2-1B38-82C3-22BE-60F3814F4527}"/>
              </a:ext>
            </a:extLst>
          </p:cNvPr>
          <p:cNvSpPr txBox="1"/>
          <p:nvPr/>
        </p:nvSpPr>
        <p:spPr>
          <a:xfrm>
            <a:off x="7314037" y="3636806"/>
            <a:ext cx="2376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3.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 med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loss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8C5D3-0702-7F12-7B1A-117FFB44B970}"/>
              </a:ext>
            </a:extLst>
          </p:cNvPr>
          <p:cNvCxnSpPr>
            <a:cxnSpLocks/>
          </p:cNvCxnSpPr>
          <p:nvPr/>
        </p:nvCxnSpPr>
        <p:spPr>
          <a:xfrm>
            <a:off x="6639047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8F2770-F8BF-1B1C-FA0E-FDEB1FF785C6}"/>
              </a:ext>
            </a:extLst>
          </p:cNvPr>
          <p:cNvCxnSpPr>
            <a:cxnSpLocks/>
          </p:cNvCxnSpPr>
          <p:nvPr/>
        </p:nvCxnSpPr>
        <p:spPr>
          <a:xfrm>
            <a:off x="9269401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D56A2C-6E03-F9FD-C1CC-10BB7760FE7C}"/>
              </a:ext>
            </a:extLst>
          </p:cNvPr>
          <p:cNvSpPr txBox="1"/>
          <p:nvPr/>
        </p:nvSpPr>
        <p:spPr>
          <a:xfrm>
            <a:off x="9754391" y="3663951"/>
            <a:ext cx="2572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4.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för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hitta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nästa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bättre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)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värden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17890E-BDCA-019D-24CA-B1DF52083A62}"/>
                  </a:ext>
                </a:extLst>
              </p:cNvPr>
              <p:cNvSpPr txBox="1"/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E" sz="105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17890E-BDCA-019D-24CA-B1DF5208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blipFill>
                <a:blip r:embed="rId3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C07A3C-33EF-597C-985C-10BCA6D256C4}"/>
                  </a:ext>
                </a:extLst>
              </p:cNvPr>
              <p:cNvSpPr txBox="1"/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C07A3C-33EF-597C-985C-10BCA6D25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blipFill>
                <a:blip r:embed="rId4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D96675-77E9-795B-08D8-6810A8E9D4E7}"/>
                  </a:ext>
                </a:extLst>
              </p:cNvPr>
              <p:cNvSpPr txBox="1"/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D96675-77E9-795B-08D8-6810A8E9D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blipFill>
                <a:blip r:embed="rId5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E0BA5A-B500-EF23-86F7-3236B82DF9C0}"/>
                  </a:ext>
                </a:extLst>
              </p:cNvPr>
              <p:cNvSpPr txBox="1"/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105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E0BA5A-B500-EF23-86F7-3236B82DF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blipFill>
                <a:blip r:embed="rId6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E43399F-22D5-BBAE-14D1-C54250E0BA16}"/>
              </a:ext>
            </a:extLst>
          </p:cNvPr>
          <p:cNvSpPr txBox="1"/>
          <p:nvPr/>
        </p:nvSpPr>
        <p:spPr>
          <a:xfrm>
            <a:off x="5248229" y="4948982"/>
            <a:ext cx="5870845" cy="954107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Det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här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också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skötas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automatiskt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åt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oss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precis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som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ska se. Men,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behöver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välja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själva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funktionen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som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den.</a:t>
            </a:r>
          </a:p>
          <a:p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väljer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Century Gothic" panose="020B0502020202020204" pitchFamily="34" charset="0"/>
              </a:rPr>
              <a:t>Stochastic Gradient Descent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-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metoden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D2EDB9-3DE2-5BDB-F895-5CE69A14509E}"/>
              </a:ext>
            </a:extLst>
          </p:cNvPr>
          <p:cNvCxnSpPr>
            <a:cxnSpLocks/>
            <a:stCxn id="25" idx="2"/>
            <a:endCxn id="20" idx="0"/>
          </p:cNvCxnSpPr>
          <p:nvPr/>
        </p:nvCxnSpPr>
        <p:spPr>
          <a:xfrm flipH="1">
            <a:off x="8183652" y="4310282"/>
            <a:ext cx="2721866" cy="6387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FC53E7-6F1F-F248-8FA6-947754FE66FB}"/>
              </a:ext>
            </a:extLst>
          </p:cNvPr>
          <p:cNvSpPr txBox="1"/>
          <p:nvPr/>
        </p:nvSpPr>
        <p:spPr>
          <a:xfrm>
            <a:off x="7369326" y="2502211"/>
            <a:ext cx="1976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err="1">
                <a:latin typeface="Century Gothic" panose="020B0502020202020204" pitchFamily="34" charset="0"/>
              </a:rPr>
              <a:t>loss_function</a:t>
            </a:r>
            <a:r>
              <a:rPr lang="en-GB" sz="1000" b="1" dirty="0">
                <a:latin typeface="Century Gothic" panose="020B0502020202020204" pitchFamily="34" charset="0"/>
              </a:rPr>
              <a:t>(</a:t>
            </a:r>
            <a:r>
              <a:rPr lang="en-GB" sz="1000" b="1" dirty="0" err="1">
                <a:latin typeface="Century Gothic" panose="020B0502020202020204" pitchFamily="34" charset="0"/>
              </a:rPr>
              <a:t>y_true</a:t>
            </a:r>
            <a:r>
              <a:rPr lang="en-GB" sz="1000" b="1" dirty="0">
                <a:latin typeface="Century Gothic" panose="020B0502020202020204" pitchFamily="34" charset="0"/>
              </a:rPr>
              <a:t>, </a:t>
            </a:r>
            <a:r>
              <a:rPr lang="en-GB" sz="1000" b="1" dirty="0" err="1">
                <a:latin typeface="Century Gothic" panose="020B0502020202020204" pitchFamily="34" charset="0"/>
              </a:rPr>
              <a:t>y_pred</a:t>
            </a:r>
            <a:r>
              <a:rPr lang="en-GB" sz="1000" b="1" dirty="0">
                <a:latin typeface="Century Gothic" panose="020B0502020202020204" pitchFamily="34" charset="0"/>
              </a:rPr>
              <a:t>)</a:t>
            </a:r>
            <a:endParaRPr lang="en-SE" sz="1000" b="1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E47414-3512-2A34-85D7-09C7F423A398}"/>
              </a:ext>
            </a:extLst>
          </p:cNvPr>
          <p:cNvSpPr/>
          <p:nvPr/>
        </p:nvSpPr>
        <p:spPr>
          <a:xfrm>
            <a:off x="9619031" y="1772202"/>
            <a:ext cx="2572973" cy="25380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478762-0E21-BC10-E277-CEEDAD037DE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349"/>
          <a:stretch/>
        </p:blipFill>
        <p:spPr>
          <a:xfrm>
            <a:off x="6347595" y="6023299"/>
            <a:ext cx="3596796" cy="8001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D30B0DA-A009-0081-CB2B-94A17CD818BE}"/>
              </a:ext>
            </a:extLst>
          </p:cNvPr>
          <p:cNvSpPr txBox="1"/>
          <p:nvPr/>
        </p:nvSpPr>
        <p:spPr>
          <a:xfrm>
            <a:off x="964276" y="6192516"/>
            <a:ext cx="3465957" cy="4616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Observera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SGD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får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tillgång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till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modellens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väljer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lr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(learning rate)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2FEDE0-FE86-557A-5AD4-123BBB41D832}"/>
              </a:ext>
            </a:extLst>
          </p:cNvPr>
          <p:cNvCxnSpPr>
            <a:stCxn id="27" idx="3"/>
          </p:cNvCxnSpPr>
          <p:nvPr/>
        </p:nvCxnSpPr>
        <p:spPr>
          <a:xfrm flipV="1">
            <a:off x="4430233" y="6422065"/>
            <a:ext cx="1836624" cy="12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064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481244" y="0"/>
            <a:ext cx="3229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Iterativ</a:t>
            </a:r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white circle with black text&#10;&#10;Description automatically generated">
            <a:extLst>
              <a:ext uri="{FF2B5EF4-FFF2-40B4-BE49-F238E27FC236}">
                <a16:creationId xmlns:a16="http://schemas.microsoft.com/office/drawing/2014/main" id="{FED26E9F-760A-4054-4781-34E920C2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806" y="1806703"/>
            <a:ext cx="3377372" cy="1564615"/>
          </a:xfrm>
          <a:prstGeom prst="rect">
            <a:avLst/>
          </a:prstGeom>
        </p:spPr>
      </p:pic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05D041EB-190B-3A96-99FC-941B4606B1AC}"/>
              </a:ext>
            </a:extLst>
          </p:cNvPr>
          <p:cNvSpPr/>
          <p:nvPr/>
        </p:nvSpPr>
        <p:spPr>
          <a:xfrm>
            <a:off x="847046" y="2087131"/>
            <a:ext cx="960449" cy="1058665"/>
          </a:xfrm>
          <a:prstGeom prst="flowChartMagneticDisk">
            <a:avLst/>
          </a:prstGeom>
          <a:solidFill>
            <a:srgbClr val="4472C4"/>
          </a:solidFill>
          <a:effectLst>
            <a:outerShdw blurRad="139700" dist="38100" dir="8100000" sx="104000" sy="104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entury Gothic" panose="020B0502020202020204" pitchFamily="34" charset="0"/>
              </a:rPr>
              <a:t>Training dataset</a:t>
            </a:r>
            <a:endParaRPr lang="en-SE" sz="1400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B1164-90EB-162D-963D-47896D83B662}"/>
              </a:ext>
            </a:extLst>
          </p:cNvPr>
          <p:cNvSpPr txBox="1"/>
          <p:nvPr/>
        </p:nvSpPr>
        <p:spPr>
          <a:xfrm>
            <a:off x="220521" y="3640815"/>
            <a:ext cx="2319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1.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Ta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par training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2032A-C40A-07FF-0B48-80453FB278C1}"/>
              </a:ext>
            </a:extLst>
          </p:cNvPr>
          <p:cNvSpPr txBox="1"/>
          <p:nvPr/>
        </p:nvSpPr>
        <p:spPr>
          <a:xfrm>
            <a:off x="3487734" y="3663951"/>
            <a:ext cx="2779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2.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samla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F256C-D9EF-7D8F-C075-4FC8EAF9F43E}"/>
              </a:ext>
            </a:extLst>
          </p:cNvPr>
          <p:cNvSpPr txBox="1"/>
          <p:nvPr/>
        </p:nvSpPr>
        <p:spPr>
          <a:xfrm>
            <a:off x="3734069" y="3271290"/>
            <a:ext cx="9689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b="1" dirty="0" err="1">
                <a:latin typeface="Century Gothic" panose="020B0502020202020204" pitchFamily="34" charset="0"/>
              </a:rPr>
              <a:t>parametrar</a:t>
            </a:r>
            <a:endParaRPr lang="en-US" sz="700" b="1" dirty="0">
              <a:latin typeface="Century Gothic" panose="020B0502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298D3-1B7D-97FB-BD44-37E90D2BD36D}"/>
              </a:ext>
            </a:extLst>
          </p:cNvPr>
          <p:cNvCxnSpPr>
            <a:cxnSpLocks/>
          </p:cNvCxnSpPr>
          <p:nvPr/>
        </p:nvCxnSpPr>
        <p:spPr>
          <a:xfrm>
            <a:off x="2256674" y="264669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B950A2-1B38-82C3-22BE-60F3814F4527}"/>
              </a:ext>
            </a:extLst>
          </p:cNvPr>
          <p:cNvSpPr txBox="1"/>
          <p:nvPr/>
        </p:nvSpPr>
        <p:spPr>
          <a:xfrm>
            <a:off x="7314037" y="3636806"/>
            <a:ext cx="2376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3.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outputs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) med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2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loss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8C5D3-0702-7F12-7B1A-117FFB44B970}"/>
              </a:ext>
            </a:extLst>
          </p:cNvPr>
          <p:cNvCxnSpPr>
            <a:cxnSpLocks/>
          </p:cNvCxnSpPr>
          <p:nvPr/>
        </p:nvCxnSpPr>
        <p:spPr>
          <a:xfrm>
            <a:off x="6639047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8F2770-F8BF-1B1C-FA0E-FDEB1FF785C6}"/>
              </a:ext>
            </a:extLst>
          </p:cNvPr>
          <p:cNvCxnSpPr>
            <a:cxnSpLocks/>
          </p:cNvCxnSpPr>
          <p:nvPr/>
        </p:nvCxnSpPr>
        <p:spPr>
          <a:xfrm>
            <a:off x="9269401" y="2632782"/>
            <a:ext cx="6749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D56A2C-6E03-F9FD-C1CC-10BB7760FE7C}"/>
              </a:ext>
            </a:extLst>
          </p:cNvPr>
          <p:cNvSpPr txBox="1"/>
          <p:nvPr/>
        </p:nvSpPr>
        <p:spPr>
          <a:xfrm>
            <a:off x="9754391" y="3663951"/>
            <a:ext cx="2572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4.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, för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hitta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nästa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bättre</a:t>
            </a:r>
            <a:r>
              <a:rPr lang="en-US" sz="1200" dirty="0">
                <a:solidFill>
                  <a:srgbClr val="000000"/>
                </a:solidFill>
                <a:latin typeface="Century Gothic" panose="020B0502020202020204" pitchFamily="34" charset="0"/>
              </a:rPr>
              <a:t> )</a:t>
            </a:r>
            <a:r>
              <a:rPr lang="en-US" sz="1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värden</a:t>
            </a:r>
            <a:endParaRPr lang="en-US" sz="12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43399F-22D5-BBAE-14D1-C54250E0BA16}"/>
              </a:ext>
            </a:extLst>
          </p:cNvPr>
          <p:cNvSpPr txBox="1"/>
          <p:nvPr/>
        </p:nvSpPr>
        <p:spPr>
          <a:xfrm>
            <a:off x="470040" y="4835905"/>
            <a:ext cx="6987525" cy="73866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Okey,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detta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vad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behöver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undersöka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lite mer. </a:t>
            </a:r>
          </a:p>
          <a:p>
            <a:endParaRPr lang="en-US" sz="1400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Återigen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också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skötas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automatiskt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men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behöver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förstå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det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bättre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E7AB2-6DDE-C1EE-6DFC-A6B2E6A3F501}"/>
              </a:ext>
            </a:extLst>
          </p:cNvPr>
          <p:cNvSpPr/>
          <p:nvPr/>
        </p:nvSpPr>
        <p:spPr>
          <a:xfrm>
            <a:off x="220521" y="1806703"/>
            <a:ext cx="2376365" cy="23189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D2EDB9-3DE2-5BDB-F895-5CE69A14509E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>
            <a:off x="1408704" y="4125615"/>
            <a:ext cx="2555099" cy="71029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F68FC0-31EB-79EB-AA9E-FE06A13B07C8}"/>
              </a:ext>
            </a:extLst>
          </p:cNvPr>
          <p:cNvSpPr txBox="1"/>
          <p:nvPr/>
        </p:nvSpPr>
        <p:spPr>
          <a:xfrm>
            <a:off x="7369326" y="2502211"/>
            <a:ext cx="1976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err="1">
                <a:latin typeface="Century Gothic" panose="020B0502020202020204" pitchFamily="34" charset="0"/>
              </a:rPr>
              <a:t>loss_function</a:t>
            </a:r>
            <a:r>
              <a:rPr lang="en-GB" sz="1000" b="1" dirty="0">
                <a:latin typeface="Century Gothic" panose="020B0502020202020204" pitchFamily="34" charset="0"/>
              </a:rPr>
              <a:t>(</a:t>
            </a:r>
            <a:r>
              <a:rPr lang="en-GB" sz="1000" b="1" dirty="0" err="1">
                <a:latin typeface="Century Gothic" panose="020B0502020202020204" pitchFamily="34" charset="0"/>
              </a:rPr>
              <a:t>y_true</a:t>
            </a:r>
            <a:r>
              <a:rPr lang="en-GB" sz="1000" b="1" dirty="0">
                <a:latin typeface="Century Gothic" panose="020B0502020202020204" pitchFamily="34" charset="0"/>
              </a:rPr>
              <a:t>, </a:t>
            </a:r>
            <a:r>
              <a:rPr lang="en-GB" sz="1000" b="1" dirty="0" err="1">
                <a:latin typeface="Century Gothic" panose="020B0502020202020204" pitchFamily="34" charset="0"/>
              </a:rPr>
              <a:t>y_pred</a:t>
            </a:r>
            <a:r>
              <a:rPr lang="en-GB" sz="1000" b="1" dirty="0">
                <a:latin typeface="Century Gothic" panose="020B0502020202020204" pitchFamily="34" charset="0"/>
              </a:rPr>
              <a:t>)</a:t>
            </a:r>
            <a:endParaRPr lang="en-SE" sz="1000" b="1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262FF9-FA3B-692E-E8BE-FF9427ABB380}"/>
                  </a:ext>
                </a:extLst>
              </p:cNvPr>
              <p:cNvSpPr txBox="1"/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E" sz="105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262FF9-FA3B-692E-E8BE-FF9427ABB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232943"/>
                <a:ext cx="1304697" cy="175433"/>
              </a:xfrm>
              <a:prstGeom prst="rect">
                <a:avLst/>
              </a:prstGeom>
              <a:blipFill>
                <a:blip r:embed="rId3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051FB5-080B-3E8C-AF3B-CD54AFCFF136}"/>
                  </a:ext>
                </a:extLst>
              </p:cNvPr>
              <p:cNvSpPr txBox="1"/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051FB5-080B-3E8C-AF3B-CD54AFCFF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6" y="2408376"/>
                <a:ext cx="1304697" cy="175433"/>
              </a:xfrm>
              <a:prstGeom prst="rect">
                <a:avLst/>
              </a:prstGeom>
              <a:blipFill>
                <a:blip r:embed="rId4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5FEBB0-47D8-08BF-22B3-B665ABBA24FE}"/>
                  </a:ext>
                </a:extLst>
              </p:cNvPr>
              <p:cNvSpPr txBox="1"/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E" sz="105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105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E" sz="1050" i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SE" sz="105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E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5FEBB0-47D8-08BF-22B3-B665ABBA2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5" y="2612065"/>
                <a:ext cx="1304697" cy="175433"/>
              </a:xfrm>
              <a:prstGeom prst="rect">
                <a:avLst/>
              </a:prstGeom>
              <a:blipFill>
                <a:blip r:embed="rId5"/>
                <a:stretch>
                  <a:fillRect l="-935" r="-467" b="-17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6BB972-1C54-C425-12FE-41E2C374CC7B}"/>
                  </a:ext>
                </a:extLst>
              </p:cNvPr>
              <p:cNvSpPr txBox="1"/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05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050" b="0" i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SE" sz="1050" i="0">
                          <a:latin typeface="Cambria Math" panose="02040503050406030204" pitchFamily="18" charset="0"/>
                        </a:rPr>
                        <m:t>1⋅</m:t>
                      </m:r>
                      <m:sSubSup>
                        <m:sSubSupPr>
                          <m:ctrlPr>
                            <a:rPr lang="en-SE" sz="105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E" sz="105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105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SE" sz="105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SE" sz="10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6BB972-1C54-C425-12FE-41E2C374C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33" y="2785804"/>
                <a:ext cx="1304697" cy="161583"/>
              </a:xfrm>
              <a:prstGeom prst="rect">
                <a:avLst/>
              </a:prstGeom>
              <a:blipFill>
                <a:blip r:embed="rId6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15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5C739C-D657-297B-E440-AF88F212ED37}"/>
              </a:ext>
            </a:extLst>
          </p:cNvPr>
          <p:cNvSpPr txBox="1"/>
          <p:nvPr/>
        </p:nvSpPr>
        <p:spPr>
          <a:xfrm>
            <a:off x="2493164" y="2065227"/>
            <a:ext cx="720567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Hur </a:t>
            </a:r>
            <a:r>
              <a:rPr lang="en-US" b="1" dirty="0" err="1">
                <a:latin typeface="Century Gothic" panose="020B0502020202020204" pitchFamily="34" charset="0"/>
              </a:rPr>
              <a:t>väljs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och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skickas</a:t>
            </a:r>
            <a:r>
              <a:rPr lang="en-US" b="1" dirty="0">
                <a:latin typeface="Century Gothic" panose="020B0502020202020204" pitchFamily="34" charset="0"/>
              </a:rPr>
              <a:t> training samples till </a:t>
            </a:r>
            <a:r>
              <a:rPr lang="en-US" b="1" dirty="0" err="1">
                <a:latin typeface="Century Gothic" panose="020B0502020202020204" pitchFamily="34" charset="0"/>
              </a:rPr>
              <a:t>modellen</a:t>
            </a:r>
            <a:r>
              <a:rPr lang="en-US" b="1" dirty="0">
                <a:latin typeface="Century Gothic" panose="020B0502020202020204" pitchFamily="34" charset="0"/>
              </a:rPr>
              <a:t> för </a:t>
            </a:r>
            <a:r>
              <a:rPr lang="en-US" b="1" dirty="0" err="1">
                <a:latin typeface="Century Gothic" panose="020B0502020202020204" pitchFamily="34" charset="0"/>
              </a:rPr>
              <a:t>träning</a:t>
            </a:r>
            <a:r>
              <a:rPr lang="en-US" b="1" dirty="0">
                <a:latin typeface="Century Gothic" panose="020B0502020202020204" pitchFamily="34" charset="0"/>
              </a:rPr>
              <a:t>?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85FDD-1EE2-F406-6C79-E48F743FEF14}"/>
              </a:ext>
            </a:extLst>
          </p:cNvPr>
          <p:cNvSpPr txBox="1"/>
          <p:nvPr/>
        </p:nvSpPr>
        <p:spPr>
          <a:xfrm>
            <a:off x="4735729" y="0"/>
            <a:ext cx="27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Batcha data</a:t>
            </a:r>
          </a:p>
        </p:txBody>
      </p:sp>
    </p:spTree>
    <p:extLst>
      <p:ext uri="{BB962C8B-B14F-4D97-AF65-F5344CB8AC3E}">
        <p14:creationId xmlns:p14="http://schemas.microsoft.com/office/powerpoint/2010/main" val="1115375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735729" y="0"/>
            <a:ext cx="27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Batcha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E68FB-1E3F-CC43-1C59-F2B5C0EA0F99}"/>
              </a:ext>
            </a:extLst>
          </p:cNvPr>
          <p:cNvSpPr txBox="1"/>
          <p:nvPr/>
        </p:nvSpPr>
        <p:spPr>
          <a:xfrm>
            <a:off x="598259" y="1312646"/>
            <a:ext cx="4937760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Vi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kollar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nu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åter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träningsset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. Denna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lagrad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variabel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kallad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training_set</a:t>
            </a:r>
            <a:endParaRPr lang="en-US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F2782-2F5E-5798-279D-DB33FDA3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5" y="2548720"/>
            <a:ext cx="2381250" cy="581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D25F85-B839-11D7-C2EA-A66006EF8109}"/>
              </a:ext>
            </a:extLst>
          </p:cNvPr>
          <p:cNvSpPr txBox="1"/>
          <p:nvPr/>
        </p:nvSpPr>
        <p:spPr>
          <a:xfrm>
            <a:off x="2716086" y="3728256"/>
            <a:ext cx="6759827" cy="147732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Detta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exakt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samma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färdiga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träningsset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som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visade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upp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tidigare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. Enda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skillnaden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omvandlat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den till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datatypen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entury Gothic" panose="020B0502020202020204" pitchFamily="34" charset="0"/>
              </a:rPr>
              <a:t>Tensor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(optimal för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PyTorch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).</a:t>
            </a:r>
          </a:p>
          <a:p>
            <a:pPr algn="just"/>
            <a:endParaRPr lang="en-US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detaljer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framgår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notebooken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ni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arbeta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 med.</a:t>
            </a:r>
          </a:p>
        </p:txBody>
      </p:sp>
    </p:spTree>
    <p:extLst>
      <p:ext uri="{BB962C8B-B14F-4D97-AF65-F5344CB8AC3E}">
        <p14:creationId xmlns:p14="http://schemas.microsoft.com/office/powerpoint/2010/main" val="1048872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735729" y="0"/>
            <a:ext cx="27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Batcha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E68FB-1E3F-CC43-1C59-F2B5C0EA0F99}"/>
              </a:ext>
            </a:extLst>
          </p:cNvPr>
          <p:cNvSpPr txBox="1"/>
          <p:nvPr/>
        </p:nvSpPr>
        <p:spPr>
          <a:xfrm>
            <a:off x="598259" y="1312646"/>
            <a:ext cx="5164588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Vi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kan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, precis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som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vanligt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I Python,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extrahera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olika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manuellt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från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Tensorer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endParaRPr lang="en-US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461934-B878-0656-5769-78F1CAE4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2414794"/>
            <a:ext cx="7134225" cy="523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77A541-09F7-3977-AFFC-5CCE1B839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887" y="4655274"/>
            <a:ext cx="8696325" cy="1019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285891-0D17-8A5F-36E0-FFE8062DA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887" y="3354059"/>
            <a:ext cx="76485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69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735729" y="0"/>
            <a:ext cx="27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Batcha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E68FB-1E3F-CC43-1C59-F2B5C0EA0F99}"/>
              </a:ext>
            </a:extLst>
          </p:cNvPr>
          <p:cNvSpPr txBox="1"/>
          <p:nvPr/>
        </p:nvSpPr>
        <p:spPr>
          <a:xfrm>
            <a:off x="598259" y="1215651"/>
            <a:ext cx="5561535" cy="92333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Men, vi ska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givetvis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inte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göra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detta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manuellt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! För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ändamålet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istället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köra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med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PyTorchs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egna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DataLoader</a:t>
            </a:r>
            <a:r>
              <a:rPr lang="en-US" i="1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947E6-B094-6081-9BD8-3B078387A40A}"/>
              </a:ext>
            </a:extLst>
          </p:cNvPr>
          <p:cNvSpPr txBox="1"/>
          <p:nvPr/>
        </p:nvSpPr>
        <p:spPr>
          <a:xfrm>
            <a:off x="2510875" y="4244767"/>
            <a:ext cx="7297838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DataLoader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varje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gang vi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kallar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den,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leverera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detta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fall 16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batch_size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) randomly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utvalda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79B31A-D521-8134-B44A-2DCFAA1E7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2" y="2677524"/>
            <a:ext cx="99155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1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5B6DAA3-C120-7ABE-69F1-963BBE23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452" y="2197384"/>
            <a:ext cx="9315450" cy="2638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735729" y="0"/>
            <a:ext cx="27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Batcha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8439E-13D3-8370-15CB-FB5BC5DED84A}"/>
              </a:ext>
            </a:extLst>
          </p:cNvPr>
          <p:cNvSpPr txBox="1"/>
          <p:nvPr/>
        </p:nvSpPr>
        <p:spPr>
          <a:xfrm>
            <a:off x="584083" y="1088060"/>
            <a:ext cx="4788903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Man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kan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dra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batches av data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från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DataLoader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iterera</a:t>
            </a:r>
            <a:endParaRPr lang="en-US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BBA5B-35E9-3958-0231-917E8524CC67}"/>
              </a:ext>
            </a:extLst>
          </p:cNvPr>
          <p:cNvSpPr txBox="1"/>
          <p:nvPr/>
        </p:nvSpPr>
        <p:spPr>
          <a:xfrm>
            <a:off x="502920" y="4544010"/>
            <a:ext cx="2195092" cy="523220"/>
          </a:xfrm>
          <a:prstGeom prst="rect">
            <a:avLst/>
          </a:prstGeom>
          <a:noFill/>
          <a:ln w="19050">
            <a:solidFill>
              <a:srgbClr val="14B6F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16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randomly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utvalda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</a:t>
            </a:r>
            <a:endParaRPr lang="en-US" sz="1400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180DF-94BC-489B-0CA1-29B747660E82}"/>
              </a:ext>
            </a:extLst>
          </p:cNvPr>
          <p:cNvSpPr/>
          <p:nvPr/>
        </p:nvSpPr>
        <p:spPr>
          <a:xfrm>
            <a:off x="3422945" y="3721395"/>
            <a:ext cx="1672856" cy="276447"/>
          </a:xfrm>
          <a:prstGeom prst="rect">
            <a:avLst/>
          </a:prstGeom>
          <a:noFill/>
          <a:ln w="19050">
            <a:solidFill>
              <a:srgbClr val="14B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A9FE5-CB95-2674-BE2D-641168CB7DF8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2698012" y="3859619"/>
            <a:ext cx="724933" cy="946001"/>
          </a:xfrm>
          <a:prstGeom prst="line">
            <a:avLst/>
          </a:prstGeom>
          <a:ln w="12700">
            <a:solidFill>
              <a:srgbClr val="14B6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902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4735729" y="0"/>
            <a:ext cx="27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entury Gothic" panose="020B0502020202020204" pitchFamily="34" charset="0"/>
              </a:rPr>
              <a:t>Batcha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BBA5B-35E9-3958-0231-917E8524CC67}"/>
              </a:ext>
            </a:extLst>
          </p:cNvPr>
          <p:cNvSpPr txBox="1"/>
          <p:nvPr/>
        </p:nvSpPr>
        <p:spPr>
          <a:xfrm>
            <a:off x="6932131" y="1491035"/>
            <a:ext cx="4742927" cy="230832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DataLoader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alltså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leverera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efter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komplett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for-loop)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lika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många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training samples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storleken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dataset!</a:t>
            </a:r>
          </a:p>
          <a:p>
            <a:pPr algn="just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Som vi ser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försöker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den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16 samples för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varje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batch,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förutom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den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sista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–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eftersom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skulle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överskrida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storleken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dataset.</a:t>
            </a:r>
          </a:p>
          <a:p>
            <a:pPr algn="just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Räkna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själv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med </a:t>
            </a:r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training_set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)!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DD07C-8E20-8D59-7721-230B57FF20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029"/>
          <a:stretch/>
        </p:blipFill>
        <p:spPr>
          <a:xfrm>
            <a:off x="360143" y="1021109"/>
            <a:ext cx="2408829" cy="638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DEA257-DDEF-2BC8-CA24-4B1EC20F9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92" y="2028387"/>
            <a:ext cx="6086475" cy="148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49B6C5-ED24-A3E6-9801-4B820D32A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82" y="3577133"/>
            <a:ext cx="1841390" cy="31260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CA07A4-AC58-9853-BDCE-3BC6A4485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188" y="3577133"/>
            <a:ext cx="1694957" cy="20273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59DDD6-D3EF-6842-B5B0-5528F509F7BB}"/>
              </a:ext>
            </a:extLst>
          </p:cNvPr>
          <p:cNvSpPr txBox="1"/>
          <p:nvPr/>
        </p:nvSpPr>
        <p:spPr>
          <a:xfrm>
            <a:off x="5532843" y="4194604"/>
            <a:ext cx="4973115" cy="21259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Viktigt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: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endParaRPr lang="en-US" sz="1600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En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komplett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for-loop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genom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DataLoader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kallas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för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epoch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. </a:t>
            </a:r>
          </a:p>
          <a:p>
            <a:pPr algn="just"/>
            <a:endParaRPr lang="en-US" sz="1600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Dvs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fått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se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lika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många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samples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storleken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dataset,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säger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fått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 epoch.</a:t>
            </a:r>
          </a:p>
        </p:txBody>
      </p:sp>
    </p:spTree>
    <p:extLst>
      <p:ext uri="{BB962C8B-B14F-4D97-AF65-F5344CB8AC3E}">
        <p14:creationId xmlns:p14="http://schemas.microsoft.com/office/powerpoint/2010/main" val="244655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F8439E-13D3-8370-15CB-FB5BC5DED84A}"/>
              </a:ext>
            </a:extLst>
          </p:cNvPr>
          <p:cNvSpPr txBox="1"/>
          <p:nvPr/>
        </p:nvSpPr>
        <p:spPr>
          <a:xfrm>
            <a:off x="3970197" y="1768543"/>
            <a:ext cx="42516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1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Dags</a:t>
            </a:r>
            <a:r>
              <a:rPr lang="en-US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knyta</a:t>
            </a:r>
            <a:r>
              <a:rPr lang="en-US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ihop</a:t>
            </a:r>
            <a:r>
              <a:rPr lang="en-US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säcken</a:t>
            </a:r>
            <a:r>
              <a:rPr lang="en-US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 &amp; </a:t>
            </a:r>
            <a:r>
              <a:rPr lang="en-US" b="1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r>
              <a:rPr lang="en-US" b="1" i="1" dirty="0">
                <a:solidFill>
                  <a:srgbClr val="000000"/>
                </a:solidFill>
                <a:latin typeface="Century Gothic" panose="020B0502020202020204" pitchFamily="34" charset="0"/>
              </a:rPr>
              <a:t>! </a:t>
            </a:r>
          </a:p>
        </p:txBody>
      </p:sp>
      <p:pic>
        <p:nvPicPr>
          <p:cNvPr id="15" name="Picture 14" descr="A person in a gym&#10;&#10;Description automatically generated">
            <a:extLst>
              <a:ext uri="{FF2B5EF4-FFF2-40B4-BE49-F238E27FC236}">
                <a16:creationId xmlns:a16="http://schemas.microsoft.com/office/drawing/2014/main" id="{80C12CEC-0B0B-233C-D622-ACE45769F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274" y="2705100"/>
            <a:ext cx="47434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7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A44FA-B6D9-FE15-0EEE-FC6C08AED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45" y="929573"/>
            <a:ext cx="8115300" cy="11144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F30E8C-D94D-F6EB-6B45-9C1579E16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33" y="2615609"/>
            <a:ext cx="5195687" cy="195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40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C7755F-82FE-88B6-3393-89DAD391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3" y="2615609"/>
            <a:ext cx="5195687" cy="19502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A44FA-B6D9-FE15-0EEE-FC6C08AE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5" y="929573"/>
            <a:ext cx="8115300" cy="1114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2CA611-E984-650E-8DE7-5D4A8CD6C23D}"/>
              </a:ext>
            </a:extLst>
          </p:cNvPr>
          <p:cNvSpPr txBox="1"/>
          <p:nvPr/>
        </p:nvSpPr>
        <p:spPr>
          <a:xfrm>
            <a:off x="6441782" y="2812344"/>
            <a:ext cx="2864057" cy="307777"/>
          </a:xfrm>
          <a:prstGeom prst="rect">
            <a:avLst/>
          </a:prstGeom>
          <a:noFill/>
          <a:ln w="19050">
            <a:solidFill>
              <a:srgbClr val="14B6F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Initera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instans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av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</a:t>
            </a:r>
            <a:endParaRPr lang="en-US" sz="1400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6FCD5B-8517-1DC8-AAD0-C8B95B1B9B00}"/>
              </a:ext>
            </a:extLst>
          </p:cNvPr>
          <p:cNvSpPr/>
          <p:nvPr/>
        </p:nvSpPr>
        <p:spPr>
          <a:xfrm>
            <a:off x="1239725" y="3345712"/>
            <a:ext cx="2049279" cy="177209"/>
          </a:xfrm>
          <a:prstGeom prst="rect">
            <a:avLst/>
          </a:prstGeom>
          <a:noFill/>
          <a:ln w="19050">
            <a:solidFill>
              <a:srgbClr val="14B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46CA63-7843-9FF2-671A-8449F720A70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289004" y="2966233"/>
            <a:ext cx="3152778" cy="462767"/>
          </a:xfrm>
          <a:prstGeom prst="line">
            <a:avLst/>
          </a:prstGeom>
          <a:ln w="12700">
            <a:solidFill>
              <a:srgbClr val="14B6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670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94F30-595A-6BEF-5A91-0A757DC0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3" y="2615609"/>
            <a:ext cx="5195687" cy="19502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A44FA-B6D9-FE15-0EEE-FC6C08AE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5" y="929573"/>
            <a:ext cx="8115300" cy="11144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6FCD5B-8517-1DC8-AAD0-C8B95B1B9B00}"/>
              </a:ext>
            </a:extLst>
          </p:cNvPr>
          <p:cNvSpPr/>
          <p:nvPr/>
        </p:nvSpPr>
        <p:spPr>
          <a:xfrm>
            <a:off x="1239725" y="3494284"/>
            <a:ext cx="2623438" cy="184581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46CA63-7843-9FF2-671A-8449F720A70A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 flipV="1">
            <a:off x="3863163" y="3341912"/>
            <a:ext cx="2578620" cy="244663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7A3709-30AA-C0F0-1D80-185787C21EEB}"/>
              </a:ext>
            </a:extLst>
          </p:cNvPr>
          <p:cNvSpPr txBox="1"/>
          <p:nvPr/>
        </p:nvSpPr>
        <p:spPr>
          <a:xfrm>
            <a:off x="6441783" y="3188023"/>
            <a:ext cx="3177138" cy="307777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Initiera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lämplig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loss(MSE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detta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fall)</a:t>
            </a:r>
          </a:p>
        </p:txBody>
      </p:sp>
    </p:spTree>
    <p:extLst>
      <p:ext uri="{BB962C8B-B14F-4D97-AF65-F5344CB8AC3E}">
        <p14:creationId xmlns:p14="http://schemas.microsoft.com/office/powerpoint/2010/main" val="3210891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A1620F-8C50-D209-C337-8697EAA72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3" y="2615609"/>
            <a:ext cx="5195687" cy="19502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A44FA-B6D9-FE15-0EEE-FC6C08AE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5" y="929573"/>
            <a:ext cx="8115300" cy="11144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6FCD5B-8517-1DC8-AAD0-C8B95B1B9B00}"/>
              </a:ext>
            </a:extLst>
          </p:cNvPr>
          <p:cNvSpPr/>
          <p:nvPr/>
        </p:nvSpPr>
        <p:spPr>
          <a:xfrm>
            <a:off x="1239724" y="3671491"/>
            <a:ext cx="4267941" cy="23245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46CA63-7843-9FF2-671A-8449F720A70A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5507665" y="3787719"/>
            <a:ext cx="934117" cy="377838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7A3709-30AA-C0F0-1D80-185787C21EEB}"/>
              </a:ext>
            </a:extLst>
          </p:cNvPr>
          <p:cNvSpPr txBox="1"/>
          <p:nvPr/>
        </p:nvSpPr>
        <p:spPr>
          <a:xfrm>
            <a:off x="6441782" y="3903947"/>
            <a:ext cx="4523930" cy="52322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Initera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optimizer -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gradient descent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uppdatera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175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E78454-0877-EBC8-DB73-9DD999C23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3" y="2615609"/>
            <a:ext cx="5195687" cy="19502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A44FA-B6D9-FE15-0EEE-FC6C08AE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5" y="929573"/>
            <a:ext cx="8115300" cy="11144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6FCD5B-8517-1DC8-AAD0-C8B95B1B9B00}"/>
              </a:ext>
            </a:extLst>
          </p:cNvPr>
          <p:cNvSpPr/>
          <p:nvPr/>
        </p:nvSpPr>
        <p:spPr>
          <a:xfrm>
            <a:off x="1239724" y="4016931"/>
            <a:ext cx="4211582" cy="519509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46CA63-7843-9FF2-671A-8449F720A70A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5451306" y="4276686"/>
            <a:ext cx="990476" cy="168271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7A3709-30AA-C0F0-1D80-185787C21EEB}"/>
              </a:ext>
            </a:extLst>
          </p:cNvPr>
          <p:cNvSpPr txBox="1"/>
          <p:nvPr/>
        </p:nvSpPr>
        <p:spPr>
          <a:xfrm>
            <a:off x="6441782" y="4183347"/>
            <a:ext cx="3971037" cy="52322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Initiera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DataLoader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-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leverera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data 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7783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6CBA82-7FFE-6FA8-EABA-19575889B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99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8E3A4-6795-A82A-D251-F0DC66156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E7DFDE-4EEB-97C5-9B81-8CA36DE555B6}"/>
              </a:ext>
            </a:extLst>
          </p:cNvPr>
          <p:cNvSpPr/>
          <p:nvPr/>
        </p:nvSpPr>
        <p:spPr>
          <a:xfrm>
            <a:off x="964019" y="1963478"/>
            <a:ext cx="3501213" cy="22727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855B28-1512-F22D-E0D2-255F2DDA745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4465232" y="998614"/>
            <a:ext cx="1721368" cy="107850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205C4A-26EE-6D51-2D18-47C695590892}"/>
              </a:ext>
            </a:extLst>
          </p:cNvPr>
          <p:cNvSpPr txBox="1"/>
          <p:nvPr/>
        </p:nvSpPr>
        <p:spPr>
          <a:xfrm>
            <a:off x="6186600" y="844725"/>
            <a:ext cx="3205049" cy="3077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Förstätter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träningssläge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9853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716562-B46D-A1E2-F8B8-D37BB25DB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2310809"/>
            <a:ext cx="3501213" cy="203791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1" y="1873274"/>
            <a:ext cx="1721369" cy="5394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1503942"/>
            <a:ext cx="4152899" cy="73866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vilja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ha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koll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hur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över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initierar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lista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lägga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in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varje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iterations loss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26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B0F6C-5894-19B8-FA07-41C429700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2636868"/>
            <a:ext cx="3501213" cy="220632"/>
          </a:xfrm>
          <a:prstGeom prst="rect">
            <a:avLst/>
          </a:prstGeom>
          <a:noFill/>
          <a:ln w="19050">
            <a:solidFill>
              <a:srgbClr val="14B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1" y="2375150"/>
            <a:ext cx="1721370" cy="372034"/>
          </a:xfrm>
          <a:prstGeom prst="line">
            <a:avLst/>
          </a:prstGeom>
          <a:ln w="12700">
            <a:solidFill>
              <a:srgbClr val="14B6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1" y="2113540"/>
            <a:ext cx="3233846" cy="523220"/>
          </a:xfrm>
          <a:prstGeom prst="rect">
            <a:avLst/>
          </a:prstGeom>
          <a:noFill/>
          <a:ln w="19050">
            <a:solidFill>
              <a:srgbClr val="14B6F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Antal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gånger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kommer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den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inre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loopen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dsv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antalet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epocher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57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D514A9-67EC-B742-1EF0-333A89B54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2998373"/>
            <a:ext cx="3501213" cy="202027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1" y="2772095"/>
            <a:ext cx="1721370" cy="327292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1" y="2510485"/>
            <a:ext cx="2787278" cy="52322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Leverar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batches av training samples, precis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enligt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tidigare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309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005A2-6EAE-3B94-5F7B-0B2984CC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44968" y="3315721"/>
            <a:ext cx="3520264" cy="4040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2" y="3242718"/>
            <a:ext cx="1721368" cy="2750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2765664"/>
            <a:ext cx="3864711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varje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sample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batchen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separera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input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endParaRPr lang="en-US" sz="14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Kom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ihåg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sista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kolumnen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128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0CAEF9-77BB-80BD-4594-3D4CB840C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3877341"/>
            <a:ext cx="3501214" cy="173960"/>
          </a:xfrm>
          <a:prstGeom prst="rect">
            <a:avLst/>
          </a:prstGeom>
          <a:noFill/>
          <a:ln w="19050">
            <a:solidFill>
              <a:srgbClr val="56CB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2" y="3580165"/>
            <a:ext cx="1721368" cy="384156"/>
          </a:xfrm>
          <a:prstGeom prst="line">
            <a:avLst/>
          </a:prstGeom>
          <a:ln w="12700">
            <a:solidFill>
              <a:srgbClr val="56CB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3318555"/>
            <a:ext cx="3864711" cy="523220"/>
          </a:xfrm>
          <a:prstGeom prst="rect">
            <a:avLst/>
          </a:prstGeom>
          <a:noFill/>
          <a:ln w="19050">
            <a:solidFill>
              <a:srgbClr val="56CBF5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Skicka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in input features 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samples, 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endParaRPr lang="en-US" sz="14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845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541124-2579-2D40-03D5-4854603C0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4047462"/>
            <a:ext cx="3501214" cy="175288"/>
          </a:xfrm>
          <a:prstGeom prst="rect">
            <a:avLst/>
          </a:prstGeom>
          <a:noFill/>
          <a:ln w="19050">
            <a:solidFill>
              <a:srgbClr val="DE1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2" y="3713446"/>
            <a:ext cx="1721368" cy="421660"/>
          </a:xfrm>
          <a:prstGeom prst="line">
            <a:avLst/>
          </a:prstGeom>
          <a:ln w="12700">
            <a:solidFill>
              <a:srgbClr val="DE1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3559557"/>
            <a:ext cx="3616619" cy="307777"/>
          </a:xfrm>
          <a:prstGeom prst="rect">
            <a:avLst/>
          </a:prstGeom>
          <a:noFill/>
          <a:ln w="19050">
            <a:solidFill>
              <a:srgbClr val="DE12C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Jämför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&amp;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pred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loss</a:t>
            </a:r>
          </a:p>
        </p:txBody>
      </p:sp>
    </p:spTree>
    <p:extLst>
      <p:ext uri="{BB962C8B-B14F-4D97-AF65-F5344CB8AC3E}">
        <p14:creationId xmlns:p14="http://schemas.microsoft.com/office/powerpoint/2010/main" val="3884579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F2B403-0403-2D44-1652-09D8AA30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4210491"/>
            <a:ext cx="3501214" cy="177359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2" y="4076346"/>
            <a:ext cx="1721368" cy="222825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3814736"/>
            <a:ext cx="3864711" cy="523220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Beräknar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derivatan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av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loss, med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avseende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alla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endParaRPr lang="en-US" sz="14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055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A0FD76-729F-E17F-B870-5801E402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4366432"/>
            <a:ext cx="3501214" cy="211918"/>
          </a:xfrm>
          <a:prstGeom prst="rect">
            <a:avLst/>
          </a:prstGeom>
          <a:noFill/>
          <a:ln w="1905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2" y="4232287"/>
            <a:ext cx="1721367" cy="240104"/>
          </a:xfrm>
          <a:prstGeom prst="line">
            <a:avLst/>
          </a:prstGeom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599" y="3970677"/>
            <a:ext cx="4580637" cy="523220"/>
          </a:xfrm>
          <a:prstGeom prst="rect">
            <a:avLst/>
          </a:prstGeom>
          <a:noFill/>
          <a:ln w="1905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Utför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steg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av gradient descent,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och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uppdaterar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parametrar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 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Det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är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här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modellen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lär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 sig!</a:t>
            </a:r>
            <a:endParaRPr lang="en-US" sz="1400" b="1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6978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A07AA4-453D-B8FE-36A8-BE64A8B97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4557821"/>
            <a:ext cx="3501214" cy="1770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465232" y="4473288"/>
            <a:ext cx="1721368" cy="17307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4211678"/>
            <a:ext cx="4290014" cy="52322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Nollställer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optimizer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matematiken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blir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rätt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nästa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batch av data</a:t>
            </a:r>
            <a:endParaRPr lang="en-US" sz="1400" baseline="-250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5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CF15-3DB1-3199-FDE5-38A16F5C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4890967"/>
            <a:ext cx="3501214" cy="36860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465232" y="5075270"/>
            <a:ext cx="1721368" cy="47247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4537741"/>
            <a:ext cx="4152900" cy="116955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För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hålla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koll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träningen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extraherar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först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loss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ny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variable. </a:t>
            </a:r>
          </a:p>
          <a:p>
            <a:pPr algn="just"/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Appenda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denna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loss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därefter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till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vår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tidigare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definierade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lista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083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8B71D6-8CFF-ED22-B90C-0601F038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2" y="1202698"/>
            <a:ext cx="4152900" cy="45176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B2D2E-CFD0-2DFA-5C9B-F5F49727913E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3A95E-1601-D153-FD98-FA7B9CF787FC}"/>
              </a:ext>
            </a:extLst>
          </p:cNvPr>
          <p:cNvSpPr/>
          <p:nvPr/>
        </p:nvSpPr>
        <p:spPr>
          <a:xfrm>
            <a:off x="964018" y="5380063"/>
            <a:ext cx="3501214" cy="270548"/>
          </a:xfrm>
          <a:prstGeom prst="rect">
            <a:avLst/>
          </a:prstGeom>
          <a:noFill/>
          <a:ln w="19050">
            <a:solidFill>
              <a:srgbClr val="DE1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4175A-C0A7-267B-EF94-BD97F6807F0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465232" y="5515337"/>
            <a:ext cx="1721368" cy="396883"/>
          </a:xfrm>
          <a:prstGeom prst="line">
            <a:avLst/>
          </a:prstGeom>
          <a:ln w="12700">
            <a:solidFill>
              <a:srgbClr val="DE1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9A8AA-84FA-4C71-81AE-CEBBF56F1BCD}"/>
              </a:ext>
            </a:extLst>
          </p:cNvPr>
          <p:cNvSpPr txBox="1"/>
          <p:nvPr/>
        </p:nvSpPr>
        <p:spPr>
          <a:xfrm>
            <a:off x="6186600" y="5650610"/>
            <a:ext cx="4152900" cy="523220"/>
          </a:xfrm>
          <a:prstGeom prst="rect">
            <a:avLst/>
          </a:prstGeom>
          <a:noFill/>
          <a:ln w="19050">
            <a:solidFill>
              <a:srgbClr val="DE12C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Behövs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ej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men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kan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nice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att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också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printa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varje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iterations loss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medan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ändå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håller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på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82312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5C739C-D657-297B-E440-AF88F212ED37}"/>
              </a:ext>
            </a:extLst>
          </p:cNvPr>
          <p:cNvSpPr txBox="1"/>
          <p:nvPr/>
        </p:nvSpPr>
        <p:spPr>
          <a:xfrm>
            <a:off x="3986706" y="1694975"/>
            <a:ext cx="4218586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That’s it! </a:t>
            </a:r>
          </a:p>
          <a:p>
            <a:endParaRPr lang="en-US" b="1" dirty="0">
              <a:latin typeface="Century Gothic" panose="020B0502020202020204" pitchFamily="34" charset="0"/>
            </a:endParaRPr>
          </a:p>
          <a:p>
            <a:pPr algn="just"/>
            <a:r>
              <a:rPr lang="en-US" dirty="0" err="1">
                <a:latin typeface="Century Gothic" panose="020B0502020202020204" pitchFamily="34" charset="0"/>
              </a:rPr>
              <a:t>Gå</a:t>
            </a:r>
            <a:r>
              <a:rPr lang="en-US" dirty="0">
                <a:latin typeface="Century Gothic" panose="020B0502020202020204" pitchFamily="34" charset="0"/>
              </a:rPr>
              <a:t> nu </a:t>
            </a:r>
            <a:r>
              <a:rPr lang="en-US" dirty="0" err="1">
                <a:latin typeface="Century Gothic" panose="020B0502020202020204" pitchFamily="34" charset="0"/>
              </a:rPr>
              <a:t>igenom</a:t>
            </a:r>
            <a:r>
              <a:rPr lang="en-US" dirty="0">
                <a:latin typeface="Century Gothic" panose="020B0502020202020204" pitchFamily="34" charset="0"/>
              </a:rPr>
              <a:t> den </a:t>
            </a:r>
            <a:r>
              <a:rPr lang="en-US" dirty="0" err="1">
                <a:latin typeface="Century Gothic" panose="020B0502020202020204" pitchFamily="34" charset="0"/>
              </a:rPr>
              <a:t>förberedda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Notebooken</a:t>
            </a:r>
            <a:r>
              <a:rPr lang="en-US" dirty="0">
                <a:latin typeface="Century Gothic" panose="020B0502020202020204" pitchFamily="34" charset="0"/>
              </a:rPr>
              <a:t> - </a:t>
            </a:r>
            <a:r>
              <a:rPr lang="en-US" dirty="0" err="1">
                <a:latin typeface="Century Gothic" panose="020B0502020202020204" pitchFamily="34" charset="0"/>
              </a:rPr>
              <a:t>och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bemästra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detta</a:t>
            </a:r>
            <a:r>
              <a:rPr lang="en-US" dirty="0">
                <a:latin typeface="Century Gothic" panose="020B0502020202020204" pitchFamily="34" charset="0"/>
              </a:rPr>
              <a:t>!</a:t>
            </a:r>
          </a:p>
          <a:p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C74C8-8F8D-6948-642D-FA3B2466CE35}"/>
              </a:ext>
            </a:extLst>
          </p:cNvPr>
          <p:cNvSpPr txBox="1"/>
          <p:nvPr/>
        </p:nvSpPr>
        <p:spPr>
          <a:xfrm>
            <a:off x="5451306" y="0"/>
            <a:ext cx="1289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Träna</a:t>
            </a:r>
            <a:endParaRPr lang="en-US" sz="32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logo with orange circles and grey dots&#10;&#10;Description automatically generated">
            <a:extLst>
              <a:ext uri="{FF2B5EF4-FFF2-40B4-BE49-F238E27FC236}">
                <a16:creationId xmlns:a16="http://schemas.microsoft.com/office/drawing/2014/main" id="{C634E437-9942-0BCF-12C2-01D93428D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76495">
            <a:off x="113998" y="3238498"/>
            <a:ext cx="4819952" cy="253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26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4091</TotalTime>
  <Words>2717</Words>
  <Application>Microsoft Office PowerPoint</Application>
  <PresentationFormat>Widescreen</PresentationFormat>
  <Paragraphs>390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Century Gothic</vt:lpstr>
      <vt:lpstr>Office Theme</vt:lpstr>
      <vt:lpstr>PyTorch &amp; Neurons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Maskininlärning &amp; Deep Learning</dc:title>
  <dc:creator>Rozann Mohamed</dc:creator>
  <cp:lastModifiedBy>Rozann Leylani</cp:lastModifiedBy>
  <cp:revision>106</cp:revision>
  <dcterms:created xsi:type="dcterms:W3CDTF">2023-07-30T08:43:54Z</dcterms:created>
  <dcterms:modified xsi:type="dcterms:W3CDTF">2026-04-16T08:56:03Z</dcterms:modified>
</cp:coreProperties>
</file>